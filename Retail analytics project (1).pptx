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EB Garamon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rpdqVrlSaXFgFeVG+HqZd6jVz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EBGaramond-bold.fntdata"/><Relationship Id="rId10" Type="http://schemas.openxmlformats.org/officeDocument/2006/relationships/slide" Target="slides/slide6.xml"/><Relationship Id="rId32" Type="http://schemas.openxmlformats.org/officeDocument/2006/relationships/font" Target="fonts/EBGaramond-regular.fntdata"/><Relationship Id="rId13" Type="http://schemas.openxmlformats.org/officeDocument/2006/relationships/slide" Target="slides/slide9.xml"/><Relationship Id="rId35" Type="http://schemas.openxmlformats.org/officeDocument/2006/relationships/font" Target="fonts/EBGaramond-boldItalic.fntdata"/><Relationship Id="rId12" Type="http://schemas.openxmlformats.org/officeDocument/2006/relationships/slide" Target="slides/slide8.xml"/><Relationship Id="rId34" Type="http://schemas.openxmlformats.org/officeDocument/2006/relationships/font" Target="fonts/EBGaramond-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0"/>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algn="l">
              <a:lnSpc>
                <a:spcPct val="110000"/>
              </a:lnSpc>
              <a:spcBef>
                <a:spcPts val="1000"/>
              </a:spcBef>
              <a:spcAft>
                <a:spcPts val="0"/>
              </a:spcAft>
              <a:buSzPts val="2240"/>
              <a:buFont typeface="Noto Sans Symbols"/>
              <a:buChar char="▪"/>
              <a:defRPr/>
            </a:lvl1pPr>
            <a:lvl2pPr indent="-350519" lvl="1" marL="914400" algn="l">
              <a:lnSpc>
                <a:spcPct val="110000"/>
              </a:lnSpc>
              <a:spcBef>
                <a:spcPts val="500"/>
              </a:spcBef>
              <a:spcAft>
                <a:spcPts val="0"/>
              </a:spcAft>
              <a:buSzPts val="1920"/>
              <a:buFont typeface="Noto Sans Symbols"/>
              <a:buChar char="▪"/>
              <a:defRPr/>
            </a:lvl2pPr>
            <a:lvl3pPr indent="-330200" lvl="2" marL="1371600" algn="l">
              <a:lnSpc>
                <a:spcPct val="110000"/>
              </a:lnSpc>
              <a:spcBef>
                <a:spcPts val="500"/>
              </a:spcBef>
              <a:spcAft>
                <a:spcPts val="0"/>
              </a:spcAft>
              <a:buSzPts val="1600"/>
              <a:buFont typeface="Noto Sans Symbols"/>
              <a:buChar char="▪"/>
              <a:defRPr/>
            </a:lvl3pPr>
            <a:lvl4pPr indent="-320039" lvl="3" marL="1828800" algn="l">
              <a:lnSpc>
                <a:spcPct val="110000"/>
              </a:lnSpc>
              <a:spcBef>
                <a:spcPts val="500"/>
              </a:spcBef>
              <a:spcAft>
                <a:spcPts val="0"/>
              </a:spcAft>
              <a:buSzPts val="1440"/>
              <a:buFont typeface="Noto Sans Symbols"/>
              <a:buChar char="▪"/>
              <a:defRPr/>
            </a:lvl4pPr>
            <a:lvl5pPr indent="-320039" lvl="4" marL="2286000" algn="l">
              <a:lnSpc>
                <a:spcPct val="110000"/>
              </a:lnSpc>
              <a:spcBef>
                <a:spcPts val="500"/>
              </a:spcBef>
              <a:spcAft>
                <a:spcPts val="0"/>
              </a:spcAft>
              <a:buSzPts val="1440"/>
              <a:buFont typeface="Noto Sans Symbols"/>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0"/>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0"/>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1"/>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920"/>
              <a:buNone/>
              <a:defRPr sz="2400">
                <a:solidFill>
                  <a:srgbClr val="888888"/>
                </a:solidFill>
              </a:defRPr>
            </a:lvl1pPr>
            <a:lvl2pPr indent="-228600" lvl="1" marL="914400" algn="l">
              <a:lnSpc>
                <a:spcPct val="110000"/>
              </a:lnSpc>
              <a:spcBef>
                <a:spcPts val="500"/>
              </a:spcBef>
              <a:spcAft>
                <a:spcPts val="0"/>
              </a:spcAft>
              <a:buSzPts val="1600"/>
              <a:buNone/>
              <a:defRPr sz="2000">
                <a:solidFill>
                  <a:srgbClr val="888888"/>
                </a:solidFill>
              </a:defRPr>
            </a:lvl2pPr>
            <a:lvl3pPr indent="-228600" lvl="2" marL="1371600" algn="l">
              <a:lnSpc>
                <a:spcPct val="110000"/>
              </a:lnSpc>
              <a:spcBef>
                <a:spcPts val="500"/>
              </a:spcBef>
              <a:spcAft>
                <a:spcPts val="0"/>
              </a:spcAft>
              <a:buSzPts val="1440"/>
              <a:buNone/>
              <a:defRPr sz="1800">
                <a:solidFill>
                  <a:srgbClr val="888888"/>
                </a:solidFill>
              </a:defRPr>
            </a:lvl3pPr>
            <a:lvl4pPr indent="-228600" lvl="3" marL="1828800" algn="l">
              <a:lnSpc>
                <a:spcPct val="110000"/>
              </a:lnSpc>
              <a:spcBef>
                <a:spcPts val="500"/>
              </a:spcBef>
              <a:spcAft>
                <a:spcPts val="0"/>
              </a:spcAft>
              <a:buSzPts val="1280"/>
              <a:buNone/>
              <a:defRPr sz="1600">
                <a:solidFill>
                  <a:srgbClr val="888888"/>
                </a:solidFill>
              </a:defRPr>
            </a:lvl4pPr>
            <a:lvl5pPr indent="-228600" lvl="4" marL="2286000" algn="l">
              <a:lnSpc>
                <a:spcPct val="110000"/>
              </a:lnSpc>
              <a:spcBef>
                <a:spcPts val="500"/>
              </a:spcBef>
              <a:spcAft>
                <a:spcPts val="0"/>
              </a:spcAft>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2"/>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838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2" type="body"/>
          </p:nvPr>
        </p:nvSpPr>
        <p:spPr>
          <a:xfrm>
            <a:off x="6172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3"/>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4"/>
          <p:cNvSpPr txBox="1"/>
          <p:nvPr>
            <p:ph type="title"/>
          </p:nvPr>
        </p:nvSpPr>
        <p:spPr>
          <a:xfrm>
            <a:off x="839788" y="668338"/>
            <a:ext cx="10515600" cy="10842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 type="body"/>
          </p:nvPr>
        </p:nvSpPr>
        <p:spPr>
          <a:xfrm>
            <a:off x="839788" y="182880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4"/>
          <p:cNvSpPr txBox="1"/>
          <p:nvPr>
            <p:ph idx="2" type="body"/>
          </p:nvPr>
        </p:nvSpPr>
        <p:spPr>
          <a:xfrm>
            <a:off x="839788" y="2743199"/>
            <a:ext cx="5157787"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4"/>
          <p:cNvSpPr txBox="1"/>
          <p:nvPr>
            <p:ph idx="3" type="body"/>
          </p:nvPr>
        </p:nvSpPr>
        <p:spPr>
          <a:xfrm>
            <a:off x="6172200" y="182880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4"/>
          <p:cNvSpPr txBox="1"/>
          <p:nvPr>
            <p:ph idx="4" type="body"/>
          </p:nvPr>
        </p:nvSpPr>
        <p:spPr>
          <a:xfrm>
            <a:off x="6172200" y="2743199"/>
            <a:ext cx="5183188"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4"/>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4"/>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4"/>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5"/>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6"/>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 type="body"/>
          </p:nvPr>
        </p:nvSpPr>
        <p:spPr>
          <a:xfrm>
            <a:off x="5183188" y="685801"/>
            <a:ext cx="6172200" cy="5175250"/>
          </a:xfrm>
          <a:prstGeom prst="rect">
            <a:avLst/>
          </a:prstGeom>
          <a:noFill/>
          <a:ln>
            <a:noFill/>
          </a:ln>
        </p:spPr>
        <p:txBody>
          <a:bodyPr anchorCtr="0" anchor="t" bIns="45700" lIns="91425" spcFirstLastPara="1" rIns="91425" wrap="square" tIns="45700">
            <a:normAutofit/>
          </a:bodyPr>
          <a:lstStyle>
            <a:lvl1pPr indent="-391160" lvl="0" marL="457200" algn="l">
              <a:lnSpc>
                <a:spcPct val="110000"/>
              </a:lnSpc>
              <a:spcBef>
                <a:spcPts val="1000"/>
              </a:spcBef>
              <a:spcAft>
                <a:spcPts val="0"/>
              </a:spcAft>
              <a:buSzPts val="2560"/>
              <a:buChar char="▪"/>
              <a:defRPr sz="3200"/>
            </a:lvl1pPr>
            <a:lvl2pPr indent="-370840" lvl="1" marL="914400" algn="l">
              <a:lnSpc>
                <a:spcPct val="110000"/>
              </a:lnSpc>
              <a:spcBef>
                <a:spcPts val="500"/>
              </a:spcBef>
              <a:spcAft>
                <a:spcPts val="0"/>
              </a:spcAft>
              <a:buSzPts val="2240"/>
              <a:buChar char="▪"/>
              <a:defRPr sz="2800"/>
            </a:lvl2pPr>
            <a:lvl3pPr indent="-350519" lvl="2" marL="1371600" algn="l">
              <a:lnSpc>
                <a:spcPct val="110000"/>
              </a:lnSpc>
              <a:spcBef>
                <a:spcPts val="500"/>
              </a:spcBef>
              <a:spcAft>
                <a:spcPts val="0"/>
              </a:spcAft>
              <a:buSzPts val="1920"/>
              <a:buChar char="▪"/>
              <a:defRPr sz="2400"/>
            </a:lvl3pPr>
            <a:lvl4pPr indent="-330200" lvl="3" marL="1828800" algn="l">
              <a:lnSpc>
                <a:spcPct val="110000"/>
              </a:lnSpc>
              <a:spcBef>
                <a:spcPts val="500"/>
              </a:spcBef>
              <a:spcAft>
                <a:spcPts val="0"/>
              </a:spcAft>
              <a:buSzPts val="1600"/>
              <a:buChar char="▪"/>
              <a:defRPr sz="2000"/>
            </a:lvl4pPr>
            <a:lvl5pPr indent="-330200" lvl="4" marL="2286000" algn="l">
              <a:lnSpc>
                <a:spcPct val="110000"/>
              </a:lnSpc>
              <a:spcBef>
                <a:spcPts val="500"/>
              </a:spcBef>
              <a:spcAft>
                <a:spcPts val="0"/>
              </a:spcAft>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6"/>
          <p:cNvSpPr txBox="1"/>
          <p:nvPr>
            <p:ph idx="2"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6"/>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6"/>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p:nvPr>
            <p:ph idx="2" type="pic"/>
          </p:nvPr>
        </p:nvSpPr>
        <p:spPr>
          <a:xfrm>
            <a:off x="5183188" y="685801"/>
            <a:ext cx="6172200" cy="5175250"/>
          </a:xfrm>
          <a:prstGeom prst="rect">
            <a:avLst/>
          </a:prstGeom>
          <a:noFill/>
          <a:ln>
            <a:noFill/>
          </a:ln>
        </p:spPr>
      </p:sp>
      <p:sp>
        <p:nvSpPr>
          <p:cNvPr id="65" name="Google Shape;65;p37"/>
          <p:cNvSpPr txBox="1"/>
          <p:nvPr>
            <p:ph idx="1"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7"/>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7"/>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 type="body"/>
          </p:nvPr>
        </p:nvSpPr>
        <p:spPr>
          <a:xfrm rot="5400000">
            <a:off x="4096847" y="-1079990"/>
            <a:ext cx="3998306" cy="105156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9"/>
          <p:cNvSpPr txBox="1"/>
          <p:nvPr>
            <p:ph type="title"/>
          </p:nvPr>
        </p:nvSpPr>
        <p:spPr>
          <a:xfrm rot="5400000">
            <a:off x="7331869" y="2155031"/>
            <a:ext cx="541496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 type="body"/>
          </p:nvPr>
        </p:nvSpPr>
        <p:spPr>
          <a:xfrm rot="5400000">
            <a:off x="1997869" y="-397669"/>
            <a:ext cx="5414963"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39" lvl="2" marL="1371600" algn="l">
              <a:lnSpc>
                <a:spcPct val="110000"/>
              </a:lnSpc>
              <a:spcBef>
                <a:spcPts val="500"/>
              </a:spcBef>
              <a:spcAft>
                <a:spcPts val="0"/>
              </a:spcAft>
              <a:buSzPts val="1440"/>
              <a:buChar char="▪"/>
              <a:defRPr/>
            </a:lvl3pPr>
            <a:lvl4pPr indent="-320039" lvl="3" marL="1828800" algn="l">
              <a:lnSpc>
                <a:spcPct val="110000"/>
              </a:lnSpc>
              <a:spcBef>
                <a:spcPts val="500"/>
              </a:spcBef>
              <a:spcAft>
                <a:spcPts val="0"/>
              </a:spcAft>
              <a:buSzPts val="1440"/>
              <a:buChar char="▪"/>
              <a:defRPr/>
            </a:lvl4pPr>
            <a:lvl5pPr indent="-320039"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p:nvPr/>
        </p:nvSpPr>
        <p:spPr>
          <a:xfrm>
            <a:off x="0" y="0"/>
            <a:ext cx="12188952" cy="6858000"/>
          </a:xfrm>
          <a:prstGeom prst="frame">
            <a:avLst>
              <a:gd fmla="val 7164" name="adj1"/>
            </a:avLst>
          </a:prstGeom>
          <a:gradFill>
            <a:gsLst>
              <a:gs pos="0">
                <a:srgbClr val="46B196">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7" name="Google Shape;7;p2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5"/>
              </a:buClr>
              <a:buSzPts val="5200"/>
              <a:buFont typeface="EB Garamond"/>
              <a:buNone/>
              <a:defRPr b="0" i="0" sz="5200" u="none" cap="none" strike="noStrike">
                <a:solidFill>
                  <a:schemeClr val="accent5"/>
                </a:solidFill>
                <a:latin typeface="EB Garamond"/>
                <a:ea typeface="EB Garamond"/>
                <a:cs typeface="EB Garamond"/>
                <a:sym typeface="EB 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28"/>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10000"/>
              </a:lnSpc>
              <a:spcBef>
                <a:spcPts val="1000"/>
              </a:spcBef>
              <a:spcAft>
                <a:spcPts val="0"/>
              </a:spcAft>
              <a:buClr>
                <a:srgbClr val="E1EFEF"/>
              </a:buClr>
              <a:buSzPts val="2240"/>
              <a:buFont typeface="Noto Sans Symbols"/>
              <a:buChar char="▪"/>
              <a:defRPr b="0" i="0" sz="2800" u="none" cap="none" strike="noStrike">
                <a:solidFill>
                  <a:schemeClr val="dk2"/>
                </a:solidFill>
                <a:latin typeface="Avenir"/>
                <a:ea typeface="Avenir"/>
                <a:cs typeface="Avenir"/>
                <a:sym typeface="Avenir"/>
              </a:defRPr>
            </a:lvl1pPr>
            <a:lvl2pPr indent="-350519" lvl="1" marL="914400" marR="0" rtl="0" algn="l">
              <a:lnSpc>
                <a:spcPct val="110000"/>
              </a:lnSpc>
              <a:spcBef>
                <a:spcPts val="500"/>
              </a:spcBef>
              <a:spcAft>
                <a:spcPts val="0"/>
              </a:spcAft>
              <a:buClr>
                <a:srgbClr val="E1EFEF"/>
              </a:buClr>
              <a:buSzPts val="1920"/>
              <a:buFont typeface="Noto Sans Symbols"/>
              <a:buChar char="▪"/>
              <a:defRPr b="0" i="0" sz="2400" u="none" cap="none" strike="noStrike">
                <a:solidFill>
                  <a:schemeClr val="dk2"/>
                </a:solidFill>
                <a:latin typeface="Avenir"/>
                <a:ea typeface="Avenir"/>
                <a:cs typeface="Avenir"/>
                <a:sym typeface="Avenir"/>
              </a:defRPr>
            </a:lvl2pPr>
            <a:lvl3pPr indent="-330200" lvl="2" marL="1371600" marR="0" rtl="0" algn="l">
              <a:lnSpc>
                <a:spcPct val="110000"/>
              </a:lnSpc>
              <a:spcBef>
                <a:spcPts val="500"/>
              </a:spcBef>
              <a:spcAft>
                <a:spcPts val="0"/>
              </a:spcAft>
              <a:buClr>
                <a:srgbClr val="E1EFEF"/>
              </a:buClr>
              <a:buSzPts val="1600"/>
              <a:buFont typeface="Noto Sans Symbols"/>
              <a:buChar char="▪"/>
              <a:defRPr b="0" i="0" sz="2000" u="none" cap="none" strike="noStrike">
                <a:solidFill>
                  <a:schemeClr val="dk2"/>
                </a:solidFill>
                <a:latin typeface="Avenir"/>
                <a:ea typeface="Avenir"/>
                <a:cs typeface="Avenir"/>
                <a:sym typeface="Avenir"/>
              </a:defRPr>
            </a:lvl3pPr>
            <a:lvl4pPr indent="-320039" lvl="3" marL="18288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4pPr>
            <a:lvl5pPr indent="-320039" lvl="4" marL="22860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9" name="Google Shape;9;p2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0" name="Google Shape;10;p2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1" name="Google Shape;11;p2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image" Target="../media/image26.png"/><Relationship Id="rId6"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pic>
        <p:nvPicPr>
          <p:cNvPr descr="Colored pencils inside a pencil holder which is on top of a wood table" id="91" name="Google Shape;91;p1"/>
          <p:cNvPicPr preferRelativeResize="0"/>
          <p:nvPr/>
        </p:nvPicPr>
        <p:blipFill rotWithShape="1">
          <a:blip r:embed="rId3">
            <a:alphaModFix amt="20000"/>
          </a:blip>
          <a:srcRect b="0" l="0" r="-1" t="15710"/>
          <a:stretch/>
        </p:blipFill>
        <p:spPr>
          <a:xfrm>
            <a:off x="0" y="685"/>
            <a:ext cx="12188954" cy="6857989"/>
          </a:xfrm>
          <a:prstGeom prst="rect">
            <a:avLst/>
          </a:prstGeom>
          <a:noFill/>
          <a:ln>
            <a:noFill/>
          </a:ln>
        </p:spPr>
      </p:pic>
      <p:sp>
        <p:nvSpPr>
          <p:cNvPr id="92" name="Google Shape;92;p1"/>
          <p:cNvSpPr txBox="1"/>
          <p:nvPr>
            <p:ph type="ctrTitle"/>
          </p:nvPr>
        </p:nvSpPr>
        <p:spPr>
          <a:xfrm>
            <a:off x="1206006" y="429158"/>
            <a:ext cx="9063817" cy="2034599"/>
          </a:xfrm>
          <a:prstGeom prst="rect">
            <a:avLst/>
          </a:prstGeom>
          <a:solidFill>
            <a:srgbClr val="1D4F58"/>
          </a:solidFill>
          <a:ln cap="flat" cmpd="sng" w="38100">
            <a:solidFill>
              <a:schemeClr val="dk2"/>
            </a:solidFill>
            <a:prstDash val="solid"/>
            <a:round/>
            <a:headEnd len="sm" w="sm" type="none"/>
            <a:tailEnd len="sm" w="sm" type="none"/>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p:nvPr>
            <p:ph idx="1" type="subTitle"/>
          </p:nvPr>
        </p:nvSpPr>
        <p:spPr>
          <a:xfrm>
            <a:off x="3586300" y="3485450"/>
            <a:ext cx="4197600" cy="1419300"/>
          </a:xfrm>
          <a:prstGeom prst="rect">
            <a:avLst/>
          </a:prstGeom>
          <a:solidFill>
            <a:srgbClr val="D4ECF1"/>
          </a:solidFill>
          <a:ln cap="flat" cmpd="sng" w="38100">
            <a:solidFill>
              <a:srgbClr val="1D4F58"/>
            </a:solidFill>
            <a:prstDash val="solid"/>
            <a:round/>
            <a:headEnd len="sm" w="sm" type="none"/>
            <a:tailEnd len="sm" w="sm" type="none"/>
          </a:ln>
        </p:spPr>
        <p:txBody>
          <a:bodyPr anchorCtr="0" anchor="t" bIns="45700" lIns="91425" spcFirstLastPara="1" rIns="91425" wrap="square" tIns="45700">
            <a:normAutofit lnSpcReduction="20000"/>
          </a:bodyPr>
          <a:lstStyle/>
          <a:p>
            <a:pPr indent="0" lvl="0" marL="0" rtl="0" algn="ctr">
              <a:spcBef>
                <a:spcPts val="0"/>
              </a:spcBef>
              <a:spcAft>
                <a:spcPts val="0"/>
              </a:spcAft>
              <a:buClr>
                <a:schemeClr val="dk1"/>
              </a:buClr>
              <a:buSzPts val="1760"/>
              <a:buFont typeface="Arial"/>
              <a:buNone/>
            </a:pPr>
            <a:r>
              <a:rPr b="1" lang="en-US" sz="2200">
                <a:solidFill>
                  <a:srgbClr val="1D4F58"/>
                </a:solidFill>
                <a:latin typeface="Arial"/>
                <a:ea typeface="Arial"/>
                <a:cs typeface="Arial"/>
                <a:sym typeface="Arial"/>
              </a:rPr>
              <a:t>Dheeraj Patel</a:t>
            </a:r>
            <a:endParaRPr b="1" sz="2200">
              <a:solidFill>
                <a:srgbClr val="1D4F58"/>
              </a:solidFill>
              <a:latin typeface="Arial"/>
              <a:ea typeface="Arial"/>
              <a:cs typeface="Arial"/>
              <a:sym typeface="Arial"/>
            </a:endParaRPr>
          </a:p>
          <a:p>
            <a:pPr indent="0" lvl="0" marL="0" rtl="0" algn="ctr">
              <a:lnSpc>
                <a:spcPct val="110000"/>
              </a:lnSpc>
              <a:spcBef>
                <a:spcPts val="0"/>
              </a:spcBef>
              <a:spcAft>
                <a:spcPts val="0"/>
              </a:spcAft>
              <a:buSzPts val="1760"/>
              <a:buNone/>
            </a:pPr>
            <a:r>
              <a:rPr b="1" lang="en-US" sz="2200">
                <a:solidFill>
                  <a:srgbClr val="1D4F58"/>
                </a:solidFill>
                <a:latin typeface="Arial"/>
                <a:ea typeface="Arial"/>
                <a:cs typeface="Arial"/>
                <a:sym typeface="Arial"/>
              </a:rPr>
              <a:t>Mayank Gupta</a:t>
            </a:r>
            <a:br>
              <a:rPr lang="en-US"/>
            </a:br>
            <a:r>
              <a:rPr b="1" lang="en-US" sz="2200">
                <a:solidFill>
                  <a:srgbClr val="1D4F58"/>
                </a:solidFill>
                <a:latin typeface="Arial"/>
                <a:ea typeface="Arial"/>
                <a:cs typeface="Arial"/>
                <a:sym typeface="Arial"/>
              </a:rPr>
              <a:t>Rozi Fatma</a:t>
            </a:r>
            <a:endParaRPr b="1" sz="2200">
              <a:solidFill>
                <a:srgbClr val="1D4F58"/>
              </a:solidFill>
              <a:latin typeface="Arial"/>
              <a:ea typeface="Arial"/>
              <a:cs typeface="Arial"/>
              <a:sym typeface="Arial"/>
            </a:endParaRPr>
          </a:p>
          <a:p>
            <a:pPr indent="0" lvl="0" marL="0" rtl="0" algn="ctr">
              <a:lnSpc>
                <a:spcPct val="110000"/>
              </a:lnSpc>
              <a:spcBef>
                <a:spcPts val="0"/>
              </a:spcBef>
              <a:spcAft>
                <a:spcPts val="0"/>
              </a:spcAft>
              <a:buSzPts val="1760"/>
              <a:buNone/>
            </a:pPr>
            <a:r>
              <a:rPr b="1" lang="en-US" sz="2200">
                <a:solidFill>
                  <a:srgbClr val="1D4F58"/>
                </a:solidFill>
                <a:latin typeface="Arial"/>
                <a:ea typeface="Arial"/>
                <a:cs typeface="Arial"/>
                <a:sym typeface="Arial"/>
              </a:rPr>
              <a:t>Sadhana Balnad</a:t>
            </a:r>
            <a:endParaRPr b="1" sz="220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3014816" y="681037"/>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p:nvPr>
            <p:ph idx="1" type="body"/>
          </p:nvPr>
        </p:nvSpPr>
        <p:spPr>
          <a:xfrm>
            <a:off x="838200" y="2178657"/>
            <a:ext cx="10515600" cy="3998306"/>
          </a:xfrm>
          <a:prstGeom prst="rect">
            <a:avLst/>
          </a:prstGeom>
          <a:noFill/>
          <a:ln cap="flat" cmpd="sng" w="9525">
            <a:solidFill>
              <a:schemeClr val="dk2"/>
            </a:solidFill>
            <a:prstDash val="solid"/>
            <a:round/>
            <a:headEnd len="sm" w="sm" type="none"/>
            <a:tailEnd len="sm" w="sm" type="none"/>
          </a:ln>
        </p:spPr>
        <p:txBody>
          <a:bodyPr anchorCtr="0" anchor="t" bIns="45700" lIns="91425" spcFirstLastPara="1" rIns="91425" wrap="square" tIns="45700">
            <a:normAutofit lnSpcReduction="10000"/>
          </a:bodyPr>
          <a:lstStyle/>
          <a:p>
            <a:pPr indent="-228600" lvl="0" marL="457200" rtl="0" algn="l">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b="1" lang="en-US" sz="2400">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indent="-228600" lvl="0" marL="457200" rtl="0" algn="l">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indent="-106679" lvl="0" marL="457200" rtl="0" algn="l">
              <a:lnSpc>
                <a:spcPct val="110000"/>
              </a:lnSpc>
              <a:spcBef>
                <a:spcPts val="1000"/>
              </a:spcBef>
              <a:spcAft>
                <a:spcPts val="0"/>
              </a:spcAft>
              <a:buSzPts val="1920"/>
              <a:buFont typeface="Noto Sans Symbols"/>
              <a:buNone/>
            </a:pPr>
            <a:r>
              <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06" name="Google Shape;106;p3"/>
            <p:cNvSpPr/>
            <p:nvPr/>
          </p:nvSpPr>
          <p:spPr>
            <a:xfrm>
              <a:off x="0" y="0"/>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About Dataset</a:t>
              </a:r>
              <a:endParaRPr b="0" i="0" sz="1600" u="none" cap="none" strike="noStrik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09" name="Google Shape;109;p3"/>
            <p:cNvSpPr/>
            <p:nvPr/>
          </p:nvSpPr>
          <p:spPr>
            <a:xfrm>
              <a:off x="0" y="438764"/>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Exploratory Data Analysis</a:t>
              </a:r>
              <a:endParaRPr b="0" i="0" sz="1600" u="none" cap="none" strike="noStrik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12" name="Google Shape;112;p3"/>
            <p:cNvSpPr/>
            <p:nvPr/>
          </p:nvSpPr>
          <p:spPr>
            <a:xfrm>
              <a:off x="0" y="877529"/>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Data Preprocessing and Feature Engineering</a:t>
              </a:r>
              <a:endParaRPr b="0" i="0" sz="1400" u="none" cap="none" strike="noStrik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15" name="Google Shape;115;p3"/>
            <p:cNvSpPr/>
            <p:nvPr/>
          </p:nvSpPr>
          <p:spPr>
            <a:xfrm>
              <a:off x="0" y="1316293"/>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About Dataset</a:t>
              </a:r>
              <a:endParaRPr b="0" i="0" sz="1600" u="none" cap="none" strike="noStrik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18" name="Google Shape;118;p3"/>
            <p:cNvSpPr/>
            <p:nvPr/>
          </p:nvSpPr>
          <p:spPr>
            <a:xfrm>
              <a:off x="0" y="1755058"/>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Anomaly Detection in Sales Data</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21" name="Google Shape;121;p3"/>
            <p:cNvSpPr/>
            <p:nvPr/>
          </p:nvSpPr>
          <p:spPr>
            <a:xfrm>
              <a:off x="0" y="2193822"/>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Data Preprocessing and Feature Engineering</a:t>
              </a:r>
              <a:endParaRPr b="0" i="0" sz="1600" u="none" cap="none" strike="noStrik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24" name="Google Shape;124;p3"/>
            <p:cNvSpPr/>
            <p:nvPr/>
          </p:nvSpPr>
          <p:spPr>
            <a:xfrm>
              <a:off x="0" y="2632587"/>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latin typeface="Avenir"/>
                  <a:ea typeface="Avenir"/>
                  <a:cs typeface="Avenir"/>
                  <a:sym typeface="Avenir"/>
                </a:rPr>
                <a:t>Exploratory Data Analysis</a:t>
              </a:r>
              <a:endParaRPr b="0" i="0" sz="1400" u="none" cap="none" strike="noStrik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27" name="Google Shape;127;p3"/>
            <p:cNvSpPr/>
            <p:nvPr/>
          </p:nvSpPr>
          <p:spPr>
            <a:xfrm>
              <a:off x="0" y="3071351"/>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highlight>
                    <a:srgbClr val="FFFFFF"/>
                  </a:highlight>
                  <a:latin typeface="Avenir"/>
                  <a:ea typeface="Avenir"/>
                  <a:cs typeface="Avenir"/>
                  <a:sym typeface="Avenir"/>
                </a:rPr>
                <a:t>Time-Based Anomaly Detection</a:t>
              </a:r>
              <a:endParaRPr b="0" i="0" sz="1600" u="none" cap="none" strike="noStrik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31" name="Google Shape;131;p3"/>
            <p:cNvSpPr/>
            <p:nvPr/>
          </p:nvSpPr>
          <p:spPr>
            <a:xfrm>
              <a:off x="0" y="445"/>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Customer Segmentation Analysis &amp; Segmentation Quality Evaluation</a:t>
              </a:r>
              <a:endParaRPr b="0" i="0" sz="1400" u="none" cap="none" strike="noStrik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34" name="Google Shape;134;p3"/>
            <p:cNvSpPr/>
            <p:nvPr/>
          </p:nvSpPr>
          <p:spPr>
            <a:xfrm>
              <a:off x="0" y="521427"/>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Personalization Strategies</a:t>
              </a:r>
              <a:endParaRPr b="0" i="0" sz="1500" u="none" cap="none" strike="noStrik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37" name="Google Shape;137;p3"/>
            <p:cNvSpPr/>
            <p:nvPr/>
          </p:nvSpPr>
          <p:spPr>
            <a:xfrm>
              <a:off x="0" y="1042409"/>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Market Basket Analysis</a:t>
              </a:r>
              <a:endParaRPr b="0" i="0" sz="1500" u="none" cap="none" strike="noStrik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40" name="Google Shape;140;p3"/>
            <p:cNvSpPr/>
            <p:nvPr/>
          </p:nvSpPr>
          <p:spPr>
            <a:xfrm>
              <a:off x="0" y="1563391"/>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Demand Forecasting</a:t>
              </a:r>
              <a:endParaRPr b="0" i="0" sz="1500" u="none" cap="none" strike="noStrik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43" name="Google Shape;143;p3"/>
            <p:cNvSpPr/>
            <p:nvPr/>
          </p:nvSpPr>
          <p:spPr>
            <a:xfrm>
              <a:off x="0" y="2084374"/>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Impact of External Factors</a:t>
              </a:r>
              <a:endParaRPr b="0" i="0" sz="1500" u="none" cap="none" strike="noStrik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46" name="Google Shape;146;p3"/>
            <p:cNvSpPr/>
            <p:nvPr/>
          </p:nvSpPr>
          <p:spPr>
            <a:xfrm>
              <a:off x="0" y="2605356"/>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Real-World Application and Strategy Formulation</a:t>
              </a:r>
              <a:endParaRPr b="0" i="0" sz="1500" u="none" cap="none" strike="noStrik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49" name="Google Shape;149;p3"/>
            <p:cNvSpPr/>
            <p:nvPr/>
          </p:nvSpPr>
          <p:spPr>
            <a:xfrm>
              <a:off x="0" y="3126338"/>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Conclusion</a:t>
              </a:r>
              <a:endParaRPr b="0" i="0" sz="1500" u="none" cap="none" strike="noStrike">
                <a:solidFill>
                  <a:schemeClr val="dk1"/>
                </a:solidFill>
                <a:latin typeface="Avenir"/>
                <a:ea typeface="Avenir"/>
                <a:cs typeface="Avenir"/>
                <a:sym typeface="Avenir"/>
              </a:endParaRPr>
            </a:p>
          </p:txBody>
        </p:sp>
      </p:grpSp>
      <p:sp>
        <p:nvSpPr>
          <p:cNvPr id="151" name="Google Shape;151;p3"/>
          <p:cNvSpPr txBox="1"/>
          <p:nvPr>
            <p:ph type="title"/>
          </p:nvPr>
        </p:nvSpPr>
        <p:spPr>
          <a:xfrm>
            <a:off x="3014816" y="523721"/>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type="title"/>
          </p:nvPr>
        </p:nvSpPr>
        <p:spPr>
          <a:xfrm>
            <a:off x="589935" y="1000527"/>
            <a:ext cx="4473678" cy="931454"/>
          </a:xfrm>
          <a:prstGeom prst="rect">
            <a:avLst/>
          </a:prstGeom>
          <a:noFill/>
          <a:ln cap="flat" cmpd="sng" w="19050">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Feature Dataset</a:t>
              </a:r>
              <a:endParaRPr b="0" i="0" sz="1600" u="none" cap="none" strike="noStrik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Temperature (average temperature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Fuel Price (cost of fuel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1</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2</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3</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4</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5</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CPI (consumer price index)</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Unemployment (unemployment rate)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a:t>
              </a:r>
              <a:endParaRPr b="0" i="0" sz="1300" u="none" cap="none" strike="noStrik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Sales Dataset</a:t>
              </a:r>
              <a:endParaRPr b="1" i="0" sz="1600" u="none" cap="none" strike="noStrik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Department (department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 (the week)</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Weekly Sales (sales for the given department in the given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 (whether the week is a special holiday week)</a:t>
              </a:r>
              <a:endParaRPr b="0" i="0" sz="1300" u="none" cap="none" strike="noStrik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Store Dataset</a:t>
              </a:r>
              <a:endParaRPr b="1" i="0" sz="1600" u="none" cap="none" strike="noStrik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Type (type of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Size (size of store)</a:t>
              </a:r>
              <a:endParaRPr b="0" i="0" sz="1300" u="none" cap="none" strike="noStrik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Content: </a:t>
            </a:r>
            <a:r>
              <a:rPr b="0" i="0" lang="en-US" sz="1600" u="none" cap="none" strike="noStrik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b="0" i="0" sz="1600" u="none" cap="none" strike="noStrik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Markdown: </a:t>
            </a:r>
            <a:r>
              <a:rPr b="0" i="0" lang="en-US" sz="1600" u="none" cap="none" strike="noStrik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title"/>
          </p:nvPr>
        </p:nvSpPr>
        <p:spPr>
          <a:xfrm>
            <a:off x="838200" y="681038"/>
            <a:ext cx="10515600"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descr="A screenshot of a graph&#10;&#10;Description automatically generated" id="177" name="Google Shape;177;p5"/>
          <p:cNvPicPr preferRelativeResize="0"/>
          <p:nvPr>
            <p:ph idx="1" type="body"/>
          </p:nvPr>
        </p:nvPicPr>
        <p:blipFill rotWithShape="1">
          <a:blip r:embed="rId3">
            <a:alphaModFix/>
          </a:blip>
          <a:srcRect b="60102" l="0" r="0" t="1"/>
          <a:stretch/>
        </p:blipFill>
        <p:spPr>
          <a:xfrm>
            <a:off x="625966" y="1592826"/>
            <a:ext cx="6374601" cy="4318000"/>
          </a:xfrm>
          <a:prstGeom prst="rect">
            <a:avLst/>
          </a:prstGeom>
          <a:noFill/>
          <a:ln cap="flat" cmpd="sng" w="9525">
            <a:solidFill>
              <a:srgbClr val="2A4A48"/>
            </a:solidFill>
            <a:prstDash val="solid"/>
            <a:round/>
            <a:headEnd len="sm" w="sm" type="none"/>
            <a:tailEnd len="sm" w="sm" type="none"/>
          </a:ln>
        </p:spPr>
      </p:pic>
      <p:sp>
        <p:nvSpPr>
          <p:cNvPr id="178" name="Google Shape;178;p5"/>
          <p:cNvSpPr txBox="1"/>
          <p:nvPr/>
        </p:nvSpPr>
        <p:spPr>
          <a:xfrm>
            <a:off x="7226709" y="1663509"/>
            <a:ext cx="3982065" cy="424731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Changing datatype: </a:t>
            </a:r>
            <a:r>
              <a:rPr b="0" i="0" lang="en-US" sz="1500" u="none" cap="none" strike="noStrike">
                <a:solidFill>
                  <a:schemeClr val="dk1"/>
                </a:solidFill>
                <a:latin typeface="Arial"/>
                <a:ea typeface="Arial"/>
                <a:cs typeface="Arial"/>
                <a:sym typeface="Arial"/>
              </a:rPr>
              <a:t>Convert data type of dates column to datetime to extract days, months, weeks &amp; year details.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Merging Datasets: </a:t>
            </a:r>
            <a:r>
              <a:rPr b="0" i="0" lang="en-US" sz="1500" u="none" cap="none" strike="noStrike">
                <a:solidFill>
                  <a:schemeClr val="dk1"/>
                </a:solidFill>
                <a:latin typeface="Arial"/>
                <a:ea typeface="Arial"/>
                <a:cs typeface="Arial"/>
                <a:sym typeface="Arial"/>
              </a:rPr>
              <a:t>Joined all the tables i.e. features, stores and sales table in a single table.</a:t>
            </a:r>
            <a:endParaRPr b="0" i="0" sz="15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Handle Missing Values:</a:t>
            </a:r>
            <a:r>
              <a:rPr b="0" i="0" lang="en-US" sz="1500" u="none" cap="none" strike="noStrik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US" sz="1500" u="none" cap="none" strike="noStrike">
                <a:solidFill>
                  <a:srgbClr val="212121"/>
                </a:solidFill>
                <a:highlight>
                  <a:srgbClr val="FFFFFF"/>
                </a:highlight>
                <a:latin typeface="Arial"/>
                <a:ea typeface="Arial"/>
                <a:cs typeface="Arial"/>
                <a:sym typeface="Arial"/>
              </a:rPr>
              <a:t>This step ensures that you have a complete dataset for analysis.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Normalize Sales Data</a:t>
            </a:r>
            <a:r>
              <a:rPr b="0" i="0" lang="en-US" sz="1500" u="none" cap="none" strike="noStrik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b="0" i="0" sz="1500" u="none" cap="none" strike="noStrike">
              <a:solidFill>
                <a:srgbClr val="212121"/>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Square root Transformation</a:t>
            </a:r>
            <a:r>
              <a:rPr b="0" i="0" lang="en-US" sz="1500" u="none" cap="none" strike="noStrike">
                <a:solidFill>
                  <a:srgbClr val="212121"/>
                </a:solidFill>
                <a:highlight>
                  <a:srgbClr val="FFFFFF"/>
                </a:highlight>
                <a:latin typeface="Arial"/>
                <a:ea typeface="Arial"/>
                <a:cs typeface="Arial"/>
                <a:sym typeface="Arial"/>
              </a:rPr>
              <a:t> to handle skewness in numerical features.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A screenshot of a graph&#10;&#10;Description automatically generated" id="183" name="Google Shape;183;p6"/>
          <p:cNvPicPr preferRelativeResize="0"/>
          <p:nvPr/>
        </p:nvPicPr>
        <p:blipFill rotWithShape="1">
          <a:blip r:embed="rId3">
            <a:alphaModFix/>
          </a:blip>
          <a:srcRect b="0" l="4708" r="65548" t="79795"/>
          <a:stretch/>
        </p:blipFill>
        <p:spPr>
          <a:xfrm>
            <a:off x="8308255" y="589778"/>
            <a:ext cx="2071724" cy="2389396"/>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4" name="Google Shape;184;p6"/>
          <p:cNvPicPr preferRelativeResize="0"/>
          <p:nvPr/>
        </p:nvPicPr>
        <p:blipFill rotWithShape="1">
          <a:blip r:embed="rId3">
            <a:alphaModFix/>
          </a:blip>
          <a:srcRect b="20075" l="0" r="0" t="39620"/>
          <a:stretch/>
        </p:blipFill>
        <p:spPr>
          <a:xfrm>
            <a:off x="613019" y="852948"/>
            <a:ext cx="7529360" cy="5152104"/>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5" name="Google Shape;185;p6"/>
          <p:cNvPicPr preferRelativeResize="0"/>
          <p:nvPr/>
        </p:nvPicPr>
        <p:blipFill rotWithShape="1">
          <a:blip r:embed="rId3">
            <a:alphaModFix/>
          </a:blip>
          <a:srcRect b="0" l="37880" r="33295" t="79795"/>
          <a:stretch/>
        </p:blipFill>
        <p:spPr>
          <a:xfrm>
            <a:off x="8939018" y="2196707"/>
            <a:ext cx="2071724" cy="2465591"/>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6" name="Google Shape;186;p6"/>
          <p:cNvPicPr preferRelativeResize="0"/>
          <p:nvPr/>
        </p:nvPicPr>
        <p:blipFill rotWithShape="1">
          <a:blip r:embed="rId3">
            <a:alphaModFix/>
          </a:blip>
          <a:srcRect b="0" l="71176" r="0" t="79795"/>
          <a:stretch/>
        </p:blipFill>
        <p:spPr>
          <a:xfrm>
            <a:off x="9507257" y="3878826"/>
            <a:ext cx="2071724" cy="246558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ph type="title"/>
          </p:nvPr>
        </p:nvSpPr>
        <p:spPr>
          <a:xfrm>
            <a:off x="5486399" y="535141"/>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p:nvPr>
            <p:ph idx="1" type="body"/>
          </p:nvPr>
        </p:nvSpPr>
        <p:spPr>
          <a:xfrm>
            <a:off x="287101" y="535141"/>
            <a:ext cx="5083276" cy="3638242"/>
          </a:xfrm>
          <a:prstGeom prst="rect">
            <a:avLst/>
          </a:prstGeom>
          <a:noFill/>
          <a:ln cap="flat" cmpd="sng" w="9525">
            <a:solidFill>
              <a:srgbClr val="2A4A48"/>
            </a:solidFill>
            <a:prstDash val="solid"/>
            <a:round/>
            <a:headEnd len="sm" w="sm" type="none"/>
            <a:tailEnd len="sm" w="sm" type="none"/>
          </a:ln>
        </p:spPr>
        <p:txBody>
          <a:bodyPr anchorCtr="0" anchor="t" bIns="45700" lIns="91425" spcFirstLastPara="1" rIns="91425" wrap="square" tIns="45700">
            <a:normAutofit/>
          </a:bodyPr>
          <a:lstStyle/>
          <a:p>
            <a:pPr indent="0" lvl="0" marL="228600" rtl="0" algn="l">
              <a:lnSpc>
                <a:spcPct val="110000"/>
              </a:lnSpc>
              <a:spcBef>
                <a:spcPts val="0"/>
              </a:spcBef>
              <a:spcAft>
                <a:spcPts val="0"/>
              </a:spcAft>
              <a:buSzPts val="1280"/>
              <a:buNone/>
            </a:pPr>
            <a:r>
              <a:rPr b="1" lang="en-US" sz="1600">
                <a:solidFill>
                  <a:schemeClr val="dk1"/>
                </a:solidFill>
                <a:latin typeface="Arial"/>
                <a:ea typeface="Arial"/>
                <a:cs typeface="Arial"/>
                <a:sym typeface="Arial"/>
              </a:rPr>
              <a:t>Weekly Sales over time: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indent="-147320" lvl="0" marL="457200" rtl="0" algn="l">
              <a:lnSpc>
                <a:spcPct val="110000"/>
              </a:lnSpc>
              <a:spcBef>
                <a:spcPts val="1000"/>
              </a:spcBef>
              <a:spcAft>
                <a:spcPts val="0"/>
              </a:spcAft>
              <a:buSzPts val="1280"/>
              <a:buFont typeface="Noto Sans Symbols"/>
              <a:buNone/>
            </a:pPr>
            <a:r>
              <a:t/>
            </a:r>
            <a:endParaRPr sz="1600">
              <a:solidFill>
                <a:schemeClr val="dk1"/>
              </a:solidFill>
              <a:latin typeface="Arial"/>
              <a:ea typeface="Arial"/>
              <a:cs typeface="Arial"/>
              <a:sym typeface="Arial"/>
            </a:endParaRPr>
          </a:p>
        </p:txBody>
      </p:sp>
      <p:pic>
        <p:nvPicPr>
          <p:cNvPr descr="A graph of a number of sales&#10;&#10;Description automatically generated with medium confidence" id="193" name="Google Shape;193;p7"/>
          <p:cNvPicPr preferRelativeResize="0"/>
          <p:nvPr/>
        </p:nvPicPr>
        <p:blipFill rotWithShape="1">
          <a:blip r:embed="rId3">
            <a:alphaModFix/>
          </a:blip>
          <a:srcRect b="0" l="0" r="0" t="0"/>
          <a:stretch/>
        </p:blipFill>
        <p:spPr>
          <a:xfrm>
            <a:off x="5370377" y="1345304"/>
            <a:ext cx="3645804" cy="2905150"/>
          </a:xfrm>
          <a:prstGeom prst="rect">
            <a:avLst/>
          </a:prstGeom>
          <a:noFill/>
          <a:ln cap="flat" cmpd="sng" w="9525">
            <a:solidFill>
              <a:srgbClr val="2A4A48"/>
            </a:solidFill>
            <a:prstDash val="solid"/>
            <a:round/>
            <a:headEnd len="sm" w="sm" type="none"/>
            <a:tailEnd len="sm" w="sm" type="none"/>
          </a:ln>
        </p:spPr>
      </p:pic>
      <p:pic>
        <p:nvPicPr>
          <p:cNvPr descr="A graph showing the number of sales per year&#10;&#10;Description automatically generated" id="194" name="Google Shape;194;p7"/>
          <p:cNvPicPr preferRelativeResize="0"/>
          <p:nvPr/>
        </p:nvPicPr>
        <p:blipFill rotWithShape="1">
          <a:blip r:embed="rId4">
            <a:alphaModFix/>
          </a:blip>
          <a:srcRect b="0" l="0" r="0" t="0"/>
          <a:stretch/>
        </p:blipFill>
        <p:spPr>
          <a:xfrm>
            <a:off x="9094838" y="1481060"/>
            <a:ext cx="2996095" cy="2350384"/>
          </a:xfrm>
          <a:prstGeom prst="rect">
            <a:avLst/>
          </a:prstGeom>
          <a:noFill/>
          <a:ln cap="flat" cmpd="sng" w="9525">
            <a:solidFill>
              <a:srgbClr val="2A4A48"/>
            </a:solidFill>
            <a:prstDash val="solid"/>
            <a:round/>
            <a:headEnd len="sm" w="sm" type="none"/>
            <a:tailEnd len="sm" w="sm" type="none"/>
          </a:ln>
        </p:spPr>
      </p:pic>
      <p:pic>
        <p:nvPicPr>
          <p:cNvPr descr="A graph with red lines&#10;&#10;Description automatically generated" id="195" name="Google Shape;195;p7"/>
          <p:cNvPicPr preferRelativeResize="0"/>
          <p:nvPr/>
        </p:nvPicPr>
        <p:blipFill rotWithShape="1">
          <a:blip r:embed="rId5">
            <a:alphaModFix/>
          </a:blip>
          <a:srcRect b="0" l="0" r="0" t="0"/>
          <a:stretch/>
        </p:blipFill>
        <p:spPr>
          <a:xfrm>
            <a:off x="1028261" y="4327525"/>
            <a:ext cx="10135478" cy="2387807"/>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91902" y="681982"/>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descr="A graph of a graph showing the temperature and the price of the price&#10;&#10;Description automatically generated with medium confidence" id="201" name="Google Shape;201;p8"/>
          <p:cNvPicPr preferRelativeResize="0"/>
          <p:nvPr/>
        </p:nvPicPr>
        <p:blipFill rotWithShape="1">
          <a:blip r:embed="rId3">
            <a:alphaModFix/>
          </a:blip>
          <a:srcRect b="0" l="0" r="0" t="0"/>
          <a:stretch/>
        </p:blipFill>
        <p:spPr>
          <a:xfrm>
            <a:off x="231392" y="1688765"/>
            <a:ext cx="6474208" cy="4236407"/>
          </a:xfrm>
          <a:prstGeom prst="rect">
            <a:avLst/>
          </a:prstGeom>
          <a:noFill/>
          <a:ln cap="flat" cmpd="sng" w="9525">
            <a:solidFill>
              <a:srgbClr val="2A4A48"/>
            </a:solidFill>
            <a:prstDash val="solid"/>
            <a:round/>
            <a:headEnd len="sm" w="sm" type="none"/>
            <a:tailEnd len="sm" w="sm" type="none"/>
          </a:ln>
        </p:spPr>
      </p:pic>
      <p:sp>
        <p:nvSpPr>
          <p:cNvPr id="202" name="Google Shape;202;p8"/>
          <p:cNvSpPr txBox="1"/>
          <p:nvPr/>
        </p:nvSpPr>
        <p:spPr>
          <a:xfrm>
            <a:off x="6705600" y="797510"/>
            <a:ext cx="4994498"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November-December Sales Trend: </a:t>
            </a:r>
            <a:r>
              <a:rPr b="0" i="0" lang="en-US" sz="1600" u="none" cap="none" strike="noStrik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Holiday Sales Peaks: </a:t>
            </a:r>
            <a:r>
              <a:rPr b="0" i="0" lang="en-US" sz="1600" u="none" cap="none" strike="noStrike">
                <a:solidFill>
                  <a:schemeClr val="dk1"/>
                </a:solidFill>
                <a:latin typeface="Arial"/>
                <a:ea typeface="Arial"/>
                <a:cs typeface="Arial"/>
                <a:sym typeface="Arial"/>
              </a:rPr>
              <a:t>Sales figures experience significant peaks during weeks close to holidays.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Fuel and Consumer Price Index: </a:t>
            </a:r>
            <a:r>
              <a:rPr b="0" i="0" lang="en-US" sz="1600" u="none" cap="none" strike="noStrike">
                <a:solidFill>
                  <a:schemeClr val="dk1"/>
                </a:solidFill>
                <a:latin typeface="Arial"/>
                <a:ea typeface="Arial"/>
                <a:cs typeface="Arial"/>
                <a:sym typeface="Arial"/>
              </a:rPr>
              <a:t>Both fuel prices and the Consumer Price Index have shown a steady increase over the course of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Unemployment Trend: </a:t>
            </a:r>
            <a:r>
              <a:rPr b="0" i="0" lang="en-US" sz="1600" u="none" cap="none" strike="noStrike">
                <a:solidFill>
                  <a:schemeClr val="dk1"/>
                </a:solidFill>
                <a:latin typeface="Arial"/>
                <a:ea typeface="Arial"/>
                <a:cs typeface="Arial"/>
                <a:sym typeface="Arial"/>
              </a:rPr>
              <a:t>The unemployment rate has steadily decreased each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Temperature Pattern: </a:t>
            </a:r>
            <a:r>
              <a:rPr b="0" i="0" lang="en-US" sz="1600" u="none" cap="none" strike="noStrike">
                <a:solidFill>
                  <a:schemeClr val="dk1"/>
                </a:solidFill>
                <a:latin typeface="Arial"/>
                <a:ea typeface="Arial"/>
                <a:cs typeface="Arial"/>
                <a:sym typeface="Arial"/>
              </a:rPr>
              <a:t>Temperature data exhibits a random walk, indicating no clear pattern or trend over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 graph of a number of different colored squares&#10;&#10;Description automatically generated" id="207" name="Google Shape;207;p9"/>
          <p:cNvPicPr preferRelativeResize="0"/>
          <p:nvPr/>
        </p:nvPicPr>
        <p:blipFill rotWithShape="1">
          <a:blip r:embed="rId3">
            <a:alphaModFix/>
          </a:blip>
          <a:srcRect b="0" l="0" r="0" t="0"/>
          <a:stretch/>
        </p:blipFill>
        <p:spPr>
          <a:xfrm>
            <a:off x="516710" y="4070555"/>
            <a:ext cx="3169090" cy="2486096"/>
          </a:xfrm>
          <a:prstGeom prst="rect">
            <a:avLst/>
          </a:prstGeom>
          <a:noFill/>
          <a:ln cap="flat" cmpd="sng" w="9525">
            <a:solidFill>
              <a:srgbClr val="2A4A48"/>
            </a:solidFill>
            <a:prstDash val="solid"/>
            <a:round/>
            <a:headEnd len="sm" w="sm" type="none"/>
            <a:tailEnd len="sm" w="sm" type="none"/>
          </a:ln>
        </p:spPr>
      </p:pic>
      <p:pic>
        <p:nvPicPr>
          <p:cNvPr descr="A graph of different colored bars&#10;&#10;Description automatically generated" id="208" name="Google Shape;208;p9"/>
          <p:cNvPicPr preferRelativeResize="0"/>
          <p:nvPr/>
        </p:nvPicPr>
        <p:blipFill rotWithShape="1">
          <a:blip r:embed="rId4">
            <a:alphaModFix/>
          </a:blip>
          <a:srcRect b="0" l="0" r="0" t="0"/>
          <a:stretch/>
        </p:blipFill>
        <p:spPr>
          <a:xfrm>
            <a:off x="208730" y="526040"/>
            <a:ext cx="7834056" cy="1695726"/>
          </a:xfrm>
          <a:prstGeom prst="rect">
            <a:avLst/>
          </a:prstGeom>
          <a:noFill/>
          <a:ln cap="flat" cmpd="sng" w="9525">
            <a:solidFill>
              <a:srgbClr val="2A4A48"/>
            </a:solidFill>
            <a:prstDash val="solid"/>
            <a:round/>
            <a:headEnd len="sm" w="sm" type="none"/>
            <a:tailEnd len="sm" w="sm" type="none"/>
          </a:ln>
        </p:spPr>
      </p:pic>
      <p:pic>
        <p:nvPicPr>
          <p:cNvPr descr="A graph of a bar graph&#10;&#10;Description automatically generated with medium confidence" id="209" name="Google Shape;209;p9"/>
          <p:cNvPicPr preferRelativeResize="0"/>
          <p:nvPr/>
        </p:nvPicPr>
        <p:blipFill rotWithShape="1">
          <a:blip r:embed="rId5">
            <a:alphaModFix/>
          </a:blip>
          <a:srcRect b="0" l="0" r="0" t="0"/>
          <a:stretch/>
        </p:blipFill>
        <p:spPr>
          <a:xfrm>
            <a:off x="3490451" y="2268420"/>
            <a:ext cx="8701549" cy="1883500"/>
          </a:xfrm>
          <a:prstGeom prst="rect">
            <a:avLst/>
          </a:prstGeom>
          <a:noFill/>
          <a:ln cap="flat" cmpd="sng" w="9525">
            <a:solidFill>
              <a:srgbClr val="2A4A48"/>
            </a:solidFill>
            <a:prstDash val="solid"/>
            <a:round/>
            <a:headEnd len="sm" w="sm" type="none"/>
            <a:tailEnd len="sm" w="sm" type="none"/>
          </a:ln>
        </p:spPr>
      </p:pic>
      <p:sp>
        <p:nvSpPr>
          <p:cNvPr id="210" name="Google Shape;210;p9"/>
          <p:cNvSpPr txBox="1"/>
          <p:nvPr/>
        </p:nvSpPr>
        <p:spPr>
          <a:xfrm>
            <a:off x="8141107" y="589073"/>
            <a:ext cx="363793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stores are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departments are the 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Certain departments (1-15, 38, 40, 72, and 90-95) demonstrate notably higher weekly sales, with an average increase of 25%.</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type of store is the highest earner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b="0" i="0" sz="1400" u="none" cap="none" strike="noStrike">
              <a:solidFill>
                <a:srgbClr val="000000"/>
              </a:solidFill>
              <a:latin typeface="Arial"/>
              <a:ea typeface="Arial"/>
              <a:cs typeface="Arial"/>
              <a:sym typeface="Arial"/>
            </a:endParaRPr>
          </a:p>
        </p:txBody>
      </p:sp>
      <p:pic>
        <p:nvPicPr>
          <p:cNvPr descr="A graph of different colored bars&#10;&#10;Description automatically generated" id="213" name="Google Shape;213;p9"/>
          <p:cNvPicPr preferRelativeResize="0"/>
          <p:nvPr/>
        </p:nvPicPr>
        <p:blipFill rotWithShape="1">
          <a:blip r:embed="rId6">
            <a:alphaModFix/>
          </a:blip>
          <a:srcRect b="0" l="0" r="0" t="0"/>
          <a:stretch/>
        </p:blipFill>
        <p:spPr>
          <a:xfrm>
            <a:off x="6804471" y="4198574"/>
            <a:ext cx="2476630" cy="2465098"/>
          </a:xfrm>
          <a:prstGeom prst="rect">
            <a:avLst/>
          </a:prstGeom>
          <a:noFill/>
          <a:ln cap="flat" cmpd="sng" w="9525">
            <a:solidFill>
              <a:srgbClr val="2A4A48"/>
            </a:solidFill>
            <a:prstDash val="solid"/>
            <a:round/>
            <a:headEnd len="sm" w="sm" type="none"/>
            <a:tailEnd len="sm" w="sm" type="none"/>
          </a:ln>
        </p:spPr>
      </p:pic>
      <p:sp>
        <p:nvSpPr>
          <p:cNvPr id="214" name="Google Shape;214;p9"/>
          <p:cNvSpPr txBox="1"/>
          <p:nvPr/>
        </p:nvSpPr>
        <p:spPr>
          <a:xfrm>
            <a:off x="9393039" y="4261607"/>
            <a:ext cx="238600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Markdown1 is the highest for Type A, B while markdown 5 is the highest for type C</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A graph showing a number of colored lines&#10;&#10;Description automatically generated with medium confidence" id="219" name="Google Shape;219;p10"/>
          <p:cNvPicPr preferRelativeResize="0"/>
          <p:nvPr/>
        </p:nvPicPr>
        <p:blipFill rotWithShape="1">
          <a:blip r:embed="rId3">
            <a:alphaModFix/>
          </a:blip>
          <a:srcRect b="0" l="0" r="0" t="0"/>
          <a:stretch/>
        </p:blipFill>
        <p:spPr>
          <a:xfrm>
            <a:off x="4211810" y="3612060"/>
            <a:ext cx="7854312" cy="2777269"/>
          </a:xfrm>
          <a:prstGeom prst="rect">
            <a:avLst/>
          </a:prstGeom>
          <a:noFill/>
          <a:ln cap="flat" cmpd="sng" w="9525">
            <a:solidFill>
              <a:srgbClr val="2A4A48"/>
            </a:solidFill>
            <a:prstDash val="solid"/>
            <a:round/>
            <a:headEnd len="sm" w="sm" type="none"/>
            <a:tailEnd len="sm" w="sm" type="none"/>
          </a:ln>
        </p:spPr>
      </p:pic>
      <p:pic>
        <p:nvPicPr>
          <p:cNvPr descr="A graph of colored lines&#10;&#10;Description automatically generated with medium confidence" id="220" name="Google Shape;220;p10"/>
          <p:cNvPicPr preferRelativeResize="0"/>
          <p:nvPr/>
        </p:nvPicPr>
        <p:blipFill rotWithShape="1">
          <a:blip r:embed="rId4">
            <a:alphaModFix/>
          </a:blip>
          <a:srcRect b="0" l="0" r="0" t="0"/>
          <a:stretch/>
        </p:blipFill>
        <p:spPr>
          <a:xfrm>
            <a:off x="1111045" y="287158"/>
            <a:ext cx="6695949" cy="3503694"/>
          </a:xfrm>
          <a:prstGeom prst="rect">
            <a:avLst/>
          </a:prstGeom>
          <a:noFill/>
          <a:ln cap="flat" cmpd="sng" w="9525">
            <a:solidFill>
              <a:srgbClr val="2A4A48"/>
            </a:solidFill>
            <a:prstDash val="solid"/>
            <a:round/>
            <a:headEnd len="sm" w="sm" type="none"/>
            <a:tailEnd len="sm" w="sm" type="none"/>
          </a:ln>
        </p:spPr>
      </p:pic>
      <p:sp>
        <p:nvSpPr>
          <p:cNvPr id="221" name="Google Shape;221;p10"/>
          <p:cNvSpPr txBox="1"/>
          <p:nvPr/>
        </p:nvSpPr>
        <p:spPr>
          <a:xfrm>
            <a:off x="8404462" y="1080036"/>
            <a:ext cx="297146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across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Markdown3 is the highest in November and markdown 1 is highest in March</a:t>
            </a:r>
            <a:endParaRPr b="0" i="0" sz="1600" u="none" cap="none" strike="noStrik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A chart with numbers and a grid&#10;&#10;Description automatically generated with medium confidence" id="227" name="Google Shape;227;p11"/>
          <p:cNvPicPr preferRelativeResize="0"/>
          <p:nvPr/>
        </p:nvPicPr>
        <p:blipFill rotWithShape="1">
          <a:blip r:embed="rId3">
            <a:alphaModFix/>
          </a:blip>
          <a:srcRect b="0" l="0" r="0" t="0"/>
          <a:stretch/>
        </p:blipFill>
        <p:spPr>
          <a:xfrm>
            <a:off x="1777415" y="264874"/>
            <a:ext cx="9849420" cy="4936389"/>
          </a:xfrm>
          <a:prstGeom prst="rect">
            <a:avLst/>
          </a:prstGeom>
          <a:noFill/>
          <a:ln cap="flat" cmpd="sng" w="9525">
            <a:solidFill>
              <a:srgbClr val="2A4A48"/>
            </a:solidFill>
            <a:prstDash val="solid"/>
            <a:round/>
            <a:headEnd len="sm" w="sm" type="none"/>
            <a:tailEnd len="sm" w="sm" type="none"/>
          </a:ln>
        </p:spPr>
      </p:pic>
      <p:sp>
        <p:nvSpPr>
          <p:cNvPr id="228" name="Google Shape;228;p11"/>
          <p:cNvSpPr txBox="1"/>
          <p:nvPr/>
        </p:nvSpPr>
        <p:spPr>
          <a:xfrm>
            <a:off x="787962" y="5270102"/>
            <a:ext cx="791508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Correlation of factors and weekly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Weekly sales do not exhibit a strong correlation with other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Consumer Price Index (CPI) and Unemployment display a negative correlation.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Unemployment and Fuel Price are also negatively correlated.</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1166351" y="681037"/>
            <a:ext cx="9859297" cy="8724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b="0" l="0" r="0" t="0"/>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b="0" l="0" r="0" t="0"/>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Identify unusual sales patterns across stores and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Investigate potential causes (e.g., holidays, markdowns, economic indicators).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Implement anomaly handling strategies to clean the data for further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What is Anomaly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Anomalies are deviations from expected behavior or patterns in data, and their presence can indicate issues or security threats.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Method used for Detecting Anomalies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b="0" i="0" sz="1400" u="none" cap="none" strike="noStrik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Mitigation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cleaning: This involves identifying and correcting errors in the data. This can be done manually or using automated tools.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imputation: This involves filling in missing data points. This can be done using statistical methods or machine learning algorithms.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6170358" y="410068"/>
            <a:ext cx="5219699" cy="13492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sales trends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seasonal variations and holiday effects on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time-series analysis for understanding store and department performance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anomalies in time series Sales data using specialized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Approach:</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Create Rolling Statistics: </a:t>
            </a:r>
            <a:r>
              <a:rPr b="0" i="0" lang="en-US" sz="1600" u="none" cap="none" strike="noStrike">
                <a:solidFill>
                  <a:schemeClr val="dk1"/>
                </a:solidFill>
                <a:latin typeface="Arial"/>
                <a:ea typeface="Arial"/>
                <a:cs typeface="Arial"/>
                <a:sym typeface="Arial"/>
              </a:rPr>
              <a:t>Calculate rolling averages, moving sums, and standard deviations to track data variations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Apply Exponential Smoothing: </a:t>
            </a:r>
            <a:r>
              <a:rPr b="0" i="0" lang="en-US" sz="1600" u="none" cap="none" strike="noStrike">
                <a:solidFill>
                  <a:schemeClr val="dk1"/>
                </a:solidFill>
                <a:latin typeface="Arial"/>
                <a:ea typeface="Arial"/>
                <a:cs typeface="Arial"/>
                <a:sym typeface="Arial"/>
              </a:rPr>
              <a:t>Use exponential moving averages (EMA) and anomaly detection techniques to highlight unusual patterns in time series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Highlight Anomalies: </a:t>
            </a:r>
            <a:r>
              <a:rPr b="0" i="0" lang="en-US" sz="1600" u="none" cap="none" strike="noStrike">
                <a:solidFill>
                  <a:schemeClr val="dk1"/>
                </a:solidFill>
                <a:latin typeface="Arial"/>
                <a:ea typeface="Arial"/>
                <a:cs typeface="Arial"/>
                <a:sym typeface="Arial"/>
              </a:rPr>
              <a:t>Set thresholds and visual cues to identify significant deviations from smoothed values, aiding in anomaly detection and trend analysis.</a:t>
            </a:r>
            <a:endParaRPr b="0" i="0" sz="1400" u="none" cap="none" strike="noStrike">
              <a:solidFill>
                <a:srgbClr val="000000"/>
              </a:solidFill>
              <a:latin typeface="Arial"/>
              <a:ea typeface="Arial"/>
              <a:cs typeface="Arial"/>
              <a:sym typeface="Arial"/>
            </a:endParaRPr>
          </a:p>
        </p:txBody>
      </p:sp>
      <p:pic>
        <p:nvPicPr>
          <p:cNvPr descr="A graph of weight loss&#10;&#10;Description automatically generated" id="244" name="Google Shape;244;p13"/>
          <p:cNvPicPr preferRelativeResize="0"/>
          <p:nvPr/>
        </p:nvPicPr>
        <p:blipFill rotWithShape="1">
          <a:blip r:embed="rId3">
            <a:alphaModFix/>
          </a:blip>
          <a:srcRect b="0" l="0" r="0" t="0"/>
          <a:stretch/>
        </p:blipFill>
        <p:spPr>
          <a:xfrm>
            <a:off x="191372" y="500119"/>
            <a:ext cx="5495975" cy="2942559"/>
          </a:xfrm>
          <a:prstGeom prst="rect">
            <a:avLst/>
          </a:prstGeom>
          <a:noFill/>
          <a:ln cap="flat" cmpd="sng" w="9525">
            <a:solidFill>
              <a:srgbClr val="2A4A48"/>
            </a:solidFill>
            <a:prstDash val="solid"/>
            <a:round/>
            <a:headEnd len="sm" w="sm" type="none"/>
            <a:tailEnd len="sm" w="sm" type="none"/>
          </a:ln>
        </p:spPr>
      </p:pic>
      <p:pic>
        <p:nvPicPr>
          <p:cNvPr descr="A graph of sales data&#10;&#10;Description automatically generated" id="245" name="Google Shape;245;p13"/>
          <p:cNvPicPr preferRelativeResize="0"/>
          <p:nvPr/>
        </p:nvPicPr>
        <p:blipFill rotWithShape="1">
          <a:blip r:embed="rId4">
            <a:alphaModFix/>
          </a:blip>
          <a:srcRect b="0" l="0" r="0" t="0"/>
          <a:stretch/>
        </p:blipFill>
        <p:spPr>
          <a:xfrm>
            <a:off x="200947" y="3531169"/>
            <a:ext cx="5486400" cy="2937432"/>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graph with a red line&#10;&#10;Description automatically generated" id="250" name="Google Shape;250;p14"/>
          <p:cNvPicPr preferRelativeResize="0"/>
          <p:nvPr/>
        </p:nvPicPr>
        <p:blipFill rotWithShape="1">
          <a:blip r:embed="rId3">
            <a:alphaModFix/>
          </a:blip>
          <a:srcRect b="0" l="0" r="0" t="0"/>
          <a:stretch/>
        </p:blipFill>
        <p:spPr>
          <a:xfrm>
            <a:off x="709491" y="1631608"/>
            <a:ext cx="5266954" cy="4361697"/>
          </a:xfrm>
          <a:prstGeom prst="rect">
            <a:avLst/>
          </a:prstGeom>
          <a:noFill/>
          <a:ln cap="flat" cmpd="sng" w="9525">
            <a:solidFill>
              <a:srgbClr val="2A4A48"/>
            </a:solidFill>
            <a:prstDash val="solid"/>
            <a:round/>
            <a:headEnd len="sm" w="sm" type="none"/>
            <a:tailEnd len="sm" w="sm" type="none"/>
          </a:ln>
        </p:spPr>
      </p:pic>
      <p:sp>
        <p:nvSpPr>
          <p:cNvPr id="251" name="Google Shape;251;p14"/>
          <p:cNvSpPr txBox="1"/>
          <p:nvPr/>
        </p:nvSpPr>
        <p:spPr>
          <a:xfrm>
            <a:off x="1254810" y="675539"/>
            <a:ext cx="9443270" cy="74030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accent5"/>
              </a:buClr>
              <a:buSzPts val="4400"/>
              <a:buFont typeface="EB Garamond"/>
              <a:buNone/>
            </a:pPr>
            <a:r>
              <a:rPr b="0" i="0" lang="en-US" sz="4400" u="none" cap="none" strike="noStrike">
                <a:solidFill>
                  <a:schemeClr val="accent5"/>
                </a:solidFill>
                <a:latin typeface="EB Garamond"/>
                <a:ea typeface="EB Garamond"/>
                <a:cs typeface="EB Garamond"/>
                <a:sym typeface="EB Garamond"/>
              </a:rPr>
              <a:t>Customer Segmentation Analysis </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Segment stores or departments based on sales patterns, markdowns, and regional features.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segment-specific trends and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is Segmentation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Algorithm used for Segmentation in Retail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Applied the </a:t>
            </a:r>
            <a:r>
              <a:rPr b="1" i="0" lang="en-US" sz="1600" u="none" cap="none" strike="noStrike">
                <a:solidFill>
                  <a:schemeClr val="dk1"/>
                </a:solidFill>
                <a:latin typeface="Arial"/>
                <a:ea typeface="Arial"/>
                <a:cs typeface="Arial"/>
                <a:sym typeface="Arial"/>
              </a:rPr>
              <a:t>K-Means Clustering algorithm </a:t>
            </a:r>
            <a:r>
              <a:rPr b="0" i="0" lang="en-US" sz="1600" u="none" cap="none" strike="noStrik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838200" y="563051"/>
            <a:ext cx="10515600" cy="8626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descr="A screenshot of a graph&#10;&#10;Description automatically generated" id="258" name="Google Shape;258;p15"/>
          <p:cNvPicPr preferRelativeResize="0"/>
          <p:nvPr/>
        </p:nvPicPr>
        <p:blipFill rotWithShape="1">
          <a:blip r:embed="rId3">
            <a:alphaModFix/>
          </a:blip>
          <a:srcRect b="0" l="0" r="0" t="0"/>
          <a:stretch/>
        </p:blipFill>
        <p:spPr>
          <a:xfrm>
            <a:off x="608350" y="1350679"/>
            <a:ext cx="5230762" cy="2458968"/>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59" name="Google Shape;259;p15"/>
          <p:cNvPicPr preferRelativeResize="0"/>
          <p:nvPr/>
        </p:nvPicPr>
        <p:blipFill rotWithShape="1">
          <a:blip r:embed="rId4">
            <a:alphaModFix/>
          </a:blip>
          <a:srcRect b="0" l="0" r="0" t="0"/>
          <a:stretch/>
        </p:blipFill>
        <p:spPr>
          <a:xfrm>
            <a:off x="5899355" y="3809647"/>
            <a:ext cx="5230763" cy="2458968"/>
          </a:xfrm>
          <a:prstGeom prst="rect">
            <a:avLst/>
          </a:prstGeom>
          <a:noFill/>
          <a:ln cap="flat" cmpd="sng" w="9525">
            <a:solidFill>
              <a:srgbClr val="2A4A48"/>
            </a:solidFill>
            <a:prstDash val="solid"/>
            <a:round/>
            <a:headEnd len="sm" w="sm" type="none"/>
            <a:tailEnd len="sm" w="sm" type="none"/>
          </a:ln>
        </p:spPr>
      </p:pic>
      <p:pic>
        <p:nvPicPr>
          <p:cNvPr descr="A close-up of a graph&#10;&#10;Description automatically generated" id="260" name="Google Shape;260;p15"/>
          <p:cNvPicPr preferRelativeResize="0"/>
          <p:nvPr/>
        </p:nvPicPr>
        <p:blipFill rotWithShape="1">
          <a:blip r:embed="rId5">
            <a:alphaModFix/>
          </a:blip>
          <a:srcRect b="0" l="0" r="0" t="0"/>
          <a:stretch/>
        </p:blipFill>
        <p:spPr>
          <a:xfrm>
            <a:off x="608344" y="3809647"/>
            <a:ext cx="5230768" cy="2458970"/>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61" name="Google Shape;261;p15"/>
          <p:cNvPicPr preferRelativeResize="0"/>
          <p:nvPr/>
        </p:nvPicPr>
        <p:blipFill rotWithShape="1">
          <a:blip r:embed="rId6">
            <a:alphaModFix/>
          </a:blip>
          <a:srcRect b="0" l="0" r="0" t="0"/>
          <a:stretch/>
        </p:blipFill>
        <p:spPr>
          <a:xfrm>
            <a:off x="5899355" y="1303336"/>
            <a:ext cx="5230765" cy="245896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A screenshot of a graph&#10;&#10;Description automatically generated" id="266" name="Google Shape;266;p16"/>
          <p:cNvPicPr preferRelativeResize="0"/>
          <p:nvPr/>
        </p:nvPicPr>
        <p:blipFill rotWithShape="1">
          <a:blip r:embed="rId3">
            <a:alphaModFix/>
          </a:blip>
          <a:srcRect b="0" l="0" r="0" t="0"/>
          <a:stretch/>
        </p:blipFill>
        <p:spPr>
          <a:xfrm>
            <a:off x="538568" y="563286"/>
            <a:ext cx="5557432" cy="2612534"/>
          </a:xfrm>
          <a:prstGeom prst="rect">
            <a:avLst/>
          </a:prstGeom>
          <a:noFill/>
          <a:ln cap="flat" cmpd="sng" w="9525">
            <a:solidFill>
              <a:srgbClr val="2A4A48"/>
            </a:solidFill>
            <a:prstDash val="solid"/>
            <a:round/>
            <a:headEnd len="sm" w="sm" type="none"/>
            <a:tailEnd len="sm" w="sm" type="none"/>
          </a:ln>
        </p:spPr>
      </p:pic>
      <p:sp>
        <p:nvSpPr>
          <p:cNvPr id="267" name="Google Shape;267;p16"/>
          <p:cNvSpPr txBox="1"/>
          <p:nvPr/>
        </p:nvSpPr>
        <p:spPr>
          <a:xfrm>
            <a:off x="6805529" y="791305"/>
            <a:ext cx="3890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venir"/>
                <a:ea typeface="Avenir"/>
                <a:cs typeface="Avenir"/>
                <a:sym typeface="Avenir"/>
              </a:rPr>
              <a:t>The optimal number of cluster is 4 according to silhouette score</a:t>
            </a:r>
            <a:endParaRPr b="1" i="0" sz="1600" u="none" cap="none" strike="noStrik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Segmentation Quality Evaluation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Metric used for Segmentation Quality Evaluation in Retail Data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Utilized the </a:t>
            </a:r>
            <a:r>
              <a:rPr b="1" i="0" lang="en-US" sz="1600" u="none" cap="none" strike="noStrike">
                <a:solidFill>
                  <a:schemeClr val="dk1"/>
                </a:solidFill>
                <a:latin typeface="Arial"/>
                <a:ea typeface="Arial"/>
                <a:cs typeface="Arial"/>
                <a:sym typeface="Arial"/>
              </a:rPr>
              <a:t>silhouette score metric to evaluate the quality of segments </a:t>
            </a:r>
            <a:r>
              <a:rPr b="0" i="0" lang="en-US" sz="1600" u="none" cap="none" strike="noStrike">
                <a:solidFill>
                  <a:schemeClr val="dk1"/>
                </a:solidFill>
                <a:latin typeface="Arial"/>
                <a:ea typeface="Arial"/>
                <a:cs typeface="Arial"/>
                <a:sym typeface="Arial"/>
              </a:rPr>
              <a:t>and select the most suitable cluster configuration.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Evaluate the effectiveness of the customer segmentation.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metrics to assess the quality of segments in terms of homogeneity and separation.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ph type="title"/>
          </p:nvPr>
        </p:nvSpPr>
        <p:spPr>
          <a:xfrm>
            <a:off x="2139745" y="681037"/>
            <a:ext cx="791251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descr="A graph of colored dots&#10;&#10;Description automatically generated" id="275" name="Google Shape;275;p17"/>
          <p:cNvPicPr preferRelativeResize="0"/>
          <p:nvPr/>
        </p:nvPicPr>
        <p:blipFill rotWithShape="1">
          <a:blip r:embed="rId3">
            <a:alphaModFix/>
          </a:blip>
          <a:srcRect b="0" l="0" r="0" t="0"/>
          <a:stretch/>
        </p:blipFill>
        <p:spPr>
          <a:xfrm>
            <a:off x="713932" y="1350880"/>
            <a:ext cx="4084210" cy="2456621"/>
          </a:xfrm>
          <a:prstGeom prst="rect">
            <a:avLst/>
          </a:prstGeom>
          <a:noFill/>
          <a:ln cap="flat" cmpd="sng" w="9525">
            <a:solidFill>
              <a:schemeClr val="dk1"/>
            </a:solidFill>
            <a:prstDash val="solid"/>
            <a:round/>
            <a:headEnd len="sm" w="sm" type="none"/>
            <a:tailEnd len="sm" w="sm" type="none"/>
          </a:ln>
        </p:spPr>
      </p:pic>
      <p:pic>
        <p:nvPicPr>
          <p:cNvPr descr="A graph with red and blue dots&#10;&#10;Description automatically generated" id="276" name="Google Shape;276;p17"/>
          <p:cNvPicPr preferRelativeResize="0"/>
          <p:nvPr/>
        </p:nvPicPr>
        <p:blipFill rotWithShape="1">
          <a:blip r:embed="rId4">
            <a:alphaModFix/>
          </a:blip>
          <a:srcRect b="0" l="0" r="0" t="0"/>
          <a:stretch/>
        </p:blipFill>
        <p:spPr>
          <a:xfrm>
            <a:off x="713932" y="3912473"/>
            <a:ext cx="4084210" cy="2456622"/>
          </a:xfrm>
          <a:prstGeom prst="rect">
            <a:avLst/>
          </a:prstGeom>
          <a:noFill/>
          <a:ln cap="flat" cmpd="sng" w="9525">
            <a:solidFill>
              <a:schemeClr val="dk1"/>
            </a:solidFill>
            <a:prstDash val="solid"/>
            <a:round/>
            <a:headEnd len="sm" w="sm" type="none"/>
            <a:tailEnd len="sm" w="sm" type="none"/>
          </a:ln>
        </p:spPr>
      </p:pic>
      <p:sp>
        <p:nvSpPr>
          <p:cNvPr id="277" name="Google Shape;277;p17"/>
          <p:cNvSpPr txBox="1"/>
          <p:nvPr/>
        </p:nvSpPr>
        <p:spPr>
          <a:xfrm>
            <a:off x="5043949" y="1404094"/>
            <a:ext cx="6528619"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Develop personalized marketing strategies based on the store and department segments.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Propose inventory management strategies tailored to store and department needs.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Personalization Strategies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Inventory management Strategies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Cost Optimization: </a:t>
            </a:r>
            <a:r>
              <a:rPr b="0" i="0" lang="en-US" sz="1600" u="none" cap="none" strike="noStrik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Improved Cash Flow: </a:t>
            </a:r>
            <a:r>
              <a:rPr b="0" i="0" lang="en-US" sz="1600" u="none" cap="none" strike="noStrik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type="title"/>
          </p:nvPr>
        </p:nvSpPr>
        <p:spPr>
          <a:xfrm>
            <a:off x="635409" y="582716"/>
            <a:ext cx="10921181" cy="803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descr="A graph with green bars&#10;&#10;Description automatically generated" id="283" name="Google Shape;283;p18"/>
          <p:cNvPicPr preferRelativeResize="0"/>
          <p:nvPr/>
        </p:nvPicPr>
        <p:blipFill rotWithShape="1">
          <a:blip r:embed="rId3">
            <a:alphaModFix/>
          </a:blip>
          <a:srcRect b="0" l="0" r="0" t="0"/>
          <a:stretch/>
        </p:blipFill>
        <p:spPr>
          <a:xfrm>
            <a:off x="910730" y="1290315"/>
            <a:ext cx="6481304" cy="2138685"/>
          </a:xfrm>
          <a:prstGeom prst="rect">
            <a:avLst/>
          </a:prstGeom>
          <a:noFill/>
          <a:ln cap="flat" cmpd="sng" w="9525">
            <a:solidFill>
              <a:schemeClr val="dk1"/>
            </a:solidFill>
            <a:prstDash val="solid"/>
            <a:round/>
            <a:headEnd len="sm" w="sm" type="none"/>
            <a:tailEnd len="sm" w="sm" type="none"/>
          </a:ln>
        </p:spPr>
      </p:pic>
      <p:pic>
        <p:nvPicPr>
          <p:cNvPr descr="A graph of blue rectangular bars&#10;&#10;Description automatically generated" id="284" name="Google Shape;284;p18"/>
          <p:cNvPicPr preferRelativeResize="0"/>
          <p:nvPr/>
        </p:nvPicPr>
        <p:blipFill rotWithShape="1">
          <a:blip r:embed="rId4">
            <a:alphaModFix/>
          </a:blip>
          <a:srcRect b="0" l="0" r="0" t="0"/>
          <a:stretch/>
        </p:blipFill>
        <p:spPr>
          <a:xfrm>
            <a:off x="7667355" y="1290315"/>
            <a:ext cx="3338591" cy="2145404"/>
          </a:xfrm>
          <a:prstGeom prst="rect">
            <a:avLst/>
          </a:prstGeom>
          <a:noFill/>
          <a:ln cap="flat" cmpd="sng" w="9525">
            <a:solidFill>
              <a:schemeClr val="dk1"/>
            </a:solidFill>
            <a:prstDash val="solid"/>
            <a:round/>
            <a:headEnd len="sm" w="sm" type="none"/>
            <a:tailEnd len="sm" w="sm" type="none"/>
          </a:ln>
        </p:spPr>
      </p:pic>
      <p:sp>
        <p:nvSpPr>
          <p:cNvPr id="285" name="Google Shape;285;p18"/>
          <p:cNvSpPr txBox="1"/>
          <p:nvPr/>
        </p:nvSpPr>
        <p:spPr>
          <a:xfrm>
            <a:off x="635409" y="3773563"/>
            <a:ext cx="608770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Premium Space Retailers &amp; Sizeable Luxury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Marketing campaigns should highlight the spaciousness and luxury ambiance of the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Value-Oriented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Focus marketing efforts on value-conscious consumers by highlighting competitive pricing and promotions.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Leverage social media platforms and targeted digital advertising to reach budget-conscious shoppers.</a:t>
            </a:r>
            <a:endParaRPr b="0" i="0" sz="1400" u="none" cap="none" strike="noStrik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Budget-Friendly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Promote budget-friendly product lines and emphasize affordability in marketing messaging.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cost-effective marketing channels such as email campaigns and local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Compact Elegance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stores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Highlight the elegance and sophistication of the store ambiance in marketing materials.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A graph of blue rectangular bars&#10;&#10;Description automatically generated with medium confidence" id="291" name="Google Shape;291;p19"/>
          <p:cNvPicPr preferRelativeResize="0"/>
          <p:nvPr/>
        </p:nvPicPr>
        <p:blipFill rotWithShape="1">
          <a:blip r:embed="rId3">
            <a:alphaModFix/>
          </a:blip>
          <a:srcRect b="0" l="0" r="0" t="0"/>
          <a:stretch/>
        </p:blipFill>
        <p:spPr>
          <a:xfrm>
            <a:off x="217539" y="681299"/>
            <a:ext cx="4500412" cy="2927140"/>
          </a:xfrm>
          <a:prstGeom prst="rect">
            <a:avLst/>
          </a:prstGeom>
          <a:noFill/>
          <a:ln cap="flat" cmpd="sng" w="9525">
            <a:solidFill>
              <a:schemeClr val="dk1"/>
            </a:solidFill>
            <a:prstDash val="solid"/>
            <a:round/>
            <a:headEnd len="sm" w="sm" type="none"/>
            <a:tailEnd len="sm" w="sm" type="none"/>
          </a:ln>
        </p:spPr>
      </p:pic>
      <p:sp>
        <p:nvSpPr>
          <p:cNvPr id="292" name="Google Shape;292;p19"/>
          <p:cNvSpPr txBox="1"/>
          <p:nvPr>
            <p:ph type="title"/>
          </p:nvPr>
        </p:nvSpPr>
        <p:spPr>
          <a:xfrm>
            <a:off x="3884972" y="608363"/>
            <a:ext cx="7686368" cy="1325563"/>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descr="A graph with green bars&#10;&#10;Description automatically generated" id="293" name="Google Shape;293;p19"/>
          <p:cNvPicPr preferRelativeResize="0"/>
          <p:nvPr/>
        </p:nvPicPr>
        <p:blipFill rotWithShape="1">
          <a:blip r:embed="rId4">
            <a:alphaModFix/>
          </a:blip>
          <a:srcRect b="0" l="0" r="0" t="0"/>
          <a:stretch/>
        </p:blipFill>
        <p:spPr>
          <a:xfrm>
            <a:off x="4605033" y="1839976"/>
            <a:ext cx="7079226" cy="2337294"/>
          </a:xfrm>
          <a:prstGeom prst="rect">
            <a:avLst/>
          </a:prstGeom>
          <a:noFill/>
          <a:ln cap="flat" cmpd="sng" w="9525">
            <a:solidFill>
              <a:schemeClr val="dk1"/>
            </a:solidFill>
            <a:prstDash val="solid"/>
            <a:round/>
            <a:headEnd len="sm" w="sm" type="none"/>
            <a:tailEnd len="sm" w="sm" type="none"/>
          </a:ln>
        </p:spPr>
      </p:pic>
      <p:sp>
        <p:nvSpPr>
          <p:cNvPr id="294" name="Google Shape;294;p19"/>
          <p:cNvSpPr txBox="1"/>
          <p:nvPr/>
        </p:nvSpPr>
        <p:spPr>
          <a:xfrm>
            <a:off x="507741" y="4083319"/>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Sizeable Luxury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Highlight the spaciousness and luxury ambiance of the departments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Promote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Premium Selection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Emphasize the quality and exclusivity of products in marketing campaigns to appeal to discerning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Utilize digital marketing channels and social media platforms to reach a wider audience of luxury shoppers.</a:t>
            </a:r>
            <a:endParaRPr b="0" i="0" sz="1400" u="none" cap="none" strike="noStrik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Elite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departments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Showcase the convenience and efficiency of compact physical spaces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Grand Outlets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the variety and breadth of products available in the departments to appeal to a wider customer base.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value-driven marketing messages to highlight affordability and attract price-conscious shoppers.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838200" y="543385"/>
            <a:ext cx="10515600" cy="7643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b="0" l="0" r="0" t="0"/>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Market Basket Analysis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 basket analysis is a </a:t>
            </a:r>
            <a:r>
              <a:rPr b="1" i="0" lang="en-US" sz="1400" u="none" cap="none" strike="noStrike">
                <a:solidFill>
                  <a:schemeClr val="dk1"/>
                </a:solidFill>
                <a:latin typeface="Arial"/>
                <a:ea typeface="Arial"/>
                <a:cs typeface="Arial"/>
                <a:sym typeface="Arial"/>
              </a:rPr>
              <a:t>strategic data mining technique used by retailers to enhance sales by gaining a deeper understanding of customer purchasing patterns</a:t>
            </a:r>
            <a:r>
              <a:rPr b="0" i="0" lang="en-US" sz="1400" u="none" cap="none" strike="noStrik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Algorithms Used in Market Basket Analysis in Retail Data</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t>
            </a:r>
            <a:r>
              <a:rPr b="1" i="0" lang="en-US" sz="1400" u="none" cap="none" strike="noStrike">
                <a:solidFill>
                  <a:schemeClr val="dk1"/>
                </a:solidFill>
                <a:latin typeface="Arial"/>
                <a:ea typeface="Arial"/>
                <a:cs typeface="Arial"/>
                <a:sym typeface="Arial"/>
              </a:rPr>
              <a:t>Apriori Algorithm widely uses and is well-known for Association Rule mining</a:t>
            </a:r>
            <a:r>
              <a:rPr b="0" i="0" lang="en-US" sz="1400" u="none" cap="none" strike="noStrike">
                <a:solidFill>
                  <a:schemeClr val="dk1"/>
                </a:solidFill>
                <a:latin typeface="Arial"/>
                <a:ea typeface="Arial"/>
                <a:cs typeface="Arial"/>
                <a:sym typeface="Arial"/>
              </a:rPr>
              <a:t>, making it a popular choice in market basket analysis. </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output of the analysis consists of association rules that reveal </a:t>
            </a:r>
            <a:r>
              <a:rPr b="1" i="0" lang="en-US" sz="1400" u="none" cap="none" strike="noStrike">
                <a:solidFill>
                  <a:schemeClr val="dk1"/>
                </a:solidFill>
                <a:latin typeface="Arial"/>
                <a:ea typeface="Arial"/>
                <a:cs typeface="Arial"/>
                <a:sym typeface="Arial"/>
              </a:rPr>
              <a:t>relationships between departments</a:t>
            </a:r>
            <a:r>
              <a:rPr b="0" i="0" lang="en-US" sz="1400" u="none" cap="none" strike="noStrik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2218403" y="602380"/>
            <a:ext cx="7755194"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Implementation: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Association Results: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Optimize Store Layout: </a:t>
            </a:r>
            <a:r>
              <a:rPr b="0" i="0" lang="en-US" sz="1400" u="none" cap="none" strike="noStrik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Create Bundled Offers: </a:t>
            </a:r>
            <a:r>
              <a:rPr b="0" i="0" lang="en-US" sz="1400" u="none" cap="none" strike="noStrik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Targeted Promotions: </a:t>
            </a:r>
            <a:r>
              <a:rPr b="0" i="0" lang="en-US" sz="1400" u="none" cap="none" strike="noStrik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Dynamic Pricing Strategies: </a:t>
            </a:r>
            <a:r>
              <a:rPr b="0" i="0" lang="en-US" sz="1400" u="none" cap="none" strike="noStrik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type="title"/>
          </p:nvPr>
        </p:nvSpPr>
        <p:spPr>
          <a:xfrm>
            <a:off x="938981" y="563050"/>
            <a:ext cx="1051560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descr="A graph of a graph with blue lines and orange lines&#10;&#10;Description automatically generated" id="317" name="Google Shape;317;p22"/>
            <p:cNvPicPr preferRelativeResize="0"/>
            <p:nvPr/>
          </p:nvPicPr>
          <p:blipFill rotWithShape="1">
            <a:blip r:embed="rId3">
              <a:alphaModFix/>
            </a:blip>
            <a:srcRect b="0" l="0" r="0" t="0"/>
            <a:stretch/>
          </p:blipFill>
          <p:spPr>
            <a:xfrm>
              <a:off x="626000" y="3854091"/>
              <a:ext cx="4564897" cy="2440859"/>
            </a:xfrm>
            <a:prstGeom prst="rect">
              <a:avLst/>
            </a:prstGeom>
            <a:noFill/>
            <a:ln cap="flat" cmpd="sng" w="9525">
              <a:solidFill>
                <a:schemeClr val="dk1"/>
              </a:solidFill>
              <a:prstDash val="solid"/>
              <a:round/>
              <a:headEnd len="sm" w="sm" type="none"/>
              <a:tailEnd len="sm" w="sm" type="none"/>
            </a:ln>
          </p:spPr>
        </p:pic>
        <p:pic>
          <p:nvPicPr>
            <p:cNvPr id="318" name="Google Shape;318;p22"/>
            <p:cNvPicPr preferRelativeResize="0"/>
            <p:nvPr/>
          </p:nvPicPr>
          <p:blipFill rotWithShape="1">
            <a:blip r:embed="rId4">
              <a:alphaModFix/>
            </a:blip>
            <a:srcRect b="0" l="0" r="0" t="0"/>
            <a:stretch/>
          </p:blipFill>
          <p:spPr>
            <a:xfrm>
              <a:off x="2182202" y="4137036"/>
              <a:ext cx="2016173" cy="321954"/>
            </a:xfrm>
            <a:prstGeom prst="rect">
              <a:avLst/>
            </a:prstGeom>
            <a:noFill/>
            <a:ln cap="flat" cmpd="sng" w="9525">
              <a:solidFill>
                <a:schemeClr val="dk1"/>
              </a:solidFill>
              <a:prstDash val="solid"/>
              <a:round/>
              <a:headEnd len="sm" w="sm" type="none"/>
              <a:tailEnd len="sm" w="sm" type="none"/>
            </a:ln>
          </p:spPr>
        </p:pic>
      </p:grpSp>
      <p:grpSp>
        <p:nvGrpSpPr>
          <p:cNvPr id="319" name="Google Shape;319;p22"/>
          <p:cNvGrpSpPr/>
          <p:nvPr/>
        </p:nvGrpSpPr>
        <p:grpSpPr>
          <a:xfrm>
            <a:off x="679487" y="1271761"/>
            <a:ext cx="4564897" cy="2440858"/>
            <a:chOff x="752756" y="1129614"/>
            <a:chExt cx="4564897" cy="2440858"/>
          </a:xfrm>
        </p:grpSpPr>
        <p:pic>
          <p:nvPicPr>
            <p:cNvPr descr="A graph with blue and orange lines&#10;&#10;Description automatically generated" id="320" name="Google Shape;320;p22"/>
            <p:cNvPicPr preferRelativeResize="0"/>
            <p:nvPr/>
          </p:nvPicPr>
          <p:blipFill rotWithShape="1">
            <a:blip r:embed="rId5">
              <a:alphaModFix/>
            </a:blip>
            <a:srcRect b="0" l="0" r="0" t="0"/>
            <a:stretch/>
          </p:blipFill>
          <p:spPr>
            <a:xfrm>
              <a:off x="752756" y="1129614"/>
              <a:ext cx="4564897" cy="2440858"/>
            </a:xfrm>
            <a:prstGeom prst="rect">
              <a:avLst/>
            </a:prstGeom>
            <a:noFill/>
            <a:ln cap="flat" cmpd="sng" w="9525">
              <a:solidFill>
                <a:schemeClr val="dk1"/>
              </a:solidFill>
              <a:prstDash val="solid"/>
              <a:round/>
              <a:headEnd len="sm" w="sm" type="none"/>
              <a:tailEnd len="sm" w="sm" type="none"/>
            </a:ln>
          </p:spPr>
        </p:pic>
        <p:pic>
          <p:nvPicPr>
            <p:cNvPr id="321" name="Google Shape;321;p22"/>
            <p:cNvPicPr preferRelativeResize="0"/>
            <p:nvPr/>
          </p:nvPicPr>
          <p:blipFill rotWithShape="1">
            <a:blip r:embed="rId6">
              <a:alphaModFix/>
            </a:blip>
            <a:srcRect b="0" l="0" r="0" t="0"/>
            <a:stretch/>
          </p:blipFill>
          <p:spPr>
            <a:xfrm>
              <a:off x="2313428" y="1611662"/>
              <a:ext cx="2081591" cy="361217"/>
            </a:xfrm>
            <a:prstGeom prst="rect">
              <a:avLst/>
            </a:prstGeom>
            <a:noFill/>
            <a:ln cap="flat" cmpd="sng" w="9525">
              <a:solidFill>
                <a:schemeClr val="dk1"/>
              </a:solidFill>
              <a:prstDash val="solid"/>
              <a:round/>
              <a:headEnd len="sm" w="sm" type="none"/>
              <a:tailEnd len="sm" w="sm" type="none"/>
            </a:ln>
          </p:spPr>
        </p:pic>
      </p:grpSp>
      <p:sp>
        <p:nvSpPr>
          <p:cNvPr id="322" name="Google Shape;322;p22"/>
          <p:cNvSpPr txBox="1"/>
          <p:nvPr/>
        </p:nvSpPr>
        <p:spPr>
          <a:xfrm>
            <a:off x="5301482" y="1512016"/>
            <a:ext cx="60960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Build models to forecast weekly sales for each store and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factors like CPI, unemployment rate, fuel prices, and store/dept attributes.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Explore short-term and long-term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Demand Forecasting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Demand forecasting is a process used by businesses to predict future customer demand for their products or services.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Models Used for Demand Forecasting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for 2013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using the Holt-Winters Model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To perform forecasting using the Holt-Winters Model, also known as Triple Exponential Smoothing.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b="0" i="0" sz="1400" u="none" cap="none" strike="noStrike">
              <a:solidFill>
                <a:srgbClr val="000000"/>
              </a:solidFill>
              <a:latin typeface="Arial"/>
              <a:ea typeface="Arial"/>
              <a:cs typeface="Arial"/>
              <a:sym typeface="Arial"/>
            </a:endParaRPr>
          </a:p>
        </p:txBody>
      </p:sp>
      <p:pic>
        <p:nvPicPr>
          <p:cNvPr descr="A graph of a graph&#10;&#10;Description automatically generated with medium confidence" id="328" name="Google Shape;328;p23"/>
          <p:cNvPicPr preferRelativeResize="0"/>
          <p:nvPr/>
        </p:nvPicPr>
        <p:blipFill rotWithShape="1">
          <a:blip r:embed="rId3">
            <a:alphaModFix/>
          </a:blip>
          <a:srcRect b="0" l="0" r="0" t="0"/>
          <a:stretch/>
        </p:blipFill>
        <p:spPr>
          <a:xfrm>
            <a:off x="5535562" y="3030684"/>
            <a:ext cx="6095998" cy="3178518"/>
          </a:xfrm>
          <a:prstGeom prst="rect">
            <a:avLst/>
          </a:prstGeom>
          <a:noFill/>
          <a:ln cap="flat" cmpd="sng" w="9525">
            <a:solidFill>
              <a:schemeClr val="dk1"/>
            </a:solidFill>
            <a:prstDash val="solid"/>
            <a:round/>
            <a:headEnd len="sm" w="sm" type="none"/>
            <a:tailEnd len="sm" w="sm" type="none"/>
          </a:ln>
        </p:spPr>
      </p:pic>
      <p:pic>
        <p:nvPicPr>
          <p:cNvPr descr="A graph of a line&#10;&#10;Description automatically generated with medium confidence" id="329" name="Google Shape;329;p23"/>
          <p:cNvPicPr preferRelativeResize="0"/>
          <p:nvPr/>
        </p:nvPicPr>
        <p:blipFill rotWithShape="1">
          <a:blip r:embed="rId4">
            <a:alphaModFix/>
          </a:blip>
          <a:srcRect b="0" l="0" r="0" t="0"/>
          <a:stretch/>
        </p:blipFill>
        <p:spPr>
          <a:xfrm>
            <a:off x="560440" y="648798"/>
            <a:ext cx="5375730" cy="2780202"/>
          </a:xfrm>
          <a:prstGeom prst="rect">
            <a:avLst/>
          </a:prstGeom>
          <a:noFill/>
          <a:ln cap="flat" cmpd="sng" w="9525">
            <a:solidFill>
              <a:schemeClr val="dk1"/>
            </a:solidFill>
            <a:prstDash val="solid"/>
            <a:round/>
            <a:headEnd len="sm" w="sm" type="none"/>
            <a:tailEnd len="sm" w="sm" type="none"/>
          </a:ln>
        </p:spPr>
      </p:pic>
      <p:sp>
        <p:nvSpPr>
          <p:cNvPr id="330" name="Google Shape;330;p23"/>
          <p:cNvSpPr txBox="1"/>
          <p:nvPr>
            <p:ph type="title"/>
          </p:nvPr>
        </p:nvSpPr>
        <p:spPr>
          <a:xfrm>
            <a:off x="1093840" y="3982798"/>
            <a:ext cx="3908322" cy="127428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type="title"/>
          </p:nvPr>
        </p:nvSpPr>
        <p:spPr>
          <a:xfrm>
            <a:off x="2508455" y="543385"/>
            <a:ext cx="7175090" cy="78396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descr="A graph showing the impact of external factors on demand&#10;&#10;Description automatically generated" id="336" name="Google Shape;336;p24"/>
          <p:cNvPicPr preferRelativeResize="0"/>
          <p:nvPr/>
        </p:nvPicPr>
        <p:blipFill rotWithShape="1">
          <a:blip r:embed="rId3">
            <a:alphaModFix/>
          </a:blip>
          <a:srcRect b="0" l="0" r="0" t="0"/>
          <a:stretch/>
        </p:blipFill>
        <p:spPr>
          <a:xfrm>
            <a:off x="526510" y="1319525"/>
            <a:ext cx="5715696" cy="3361813"/>
          </a:xfrm>
          <a:prstGeom prst="rect">
            <a:avLst/>
          </a:prstGeom>
          <a:noFill/>
          <a:ln cap="flat" cmpd="sng" w="9525">
            <a:solidFill>
              <a:schemeClr val="dk1"/>
            </a:solidFill>
            <a:prstDash val="solid"/>
            <a:round/>
            <a:headEnd len="sm" w="sm" type="none"/>
            <a:tailEnd len="sm" w="sm" type="none"/>
          </a:ln>
        </p:spPr>
      </p:pic>
      <p:sp>
        <p:nvSpPr>
          <p:cNvPr id="337" name="Google Shape;337;p24"/>
          <p:cNvSpPr txBox="1"/>
          <p:nvPr/>
        </p:nvSpPr>
        <p:spPr>
          <a:xfrm>
            <a:off x="6242206" y="1446161"/>
            <a:ext cx="5565058"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Examine how external factors (economic indicators, regional climate) influence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these insights into the demand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Impact of external factors in Demand Forecasting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plays a significant role in shaping consumer demand, especially for seasonal products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b="0" i="0" sz="1400" u="none" cap="none" strike="noStrik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Consumer Price Index (CPI) and Fuel Price Index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Changes in the CPI reflect inflationary or deflationary pressures in the economy, which directly impact consumers' purchasing power.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Inventory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Seasonal Forecasting: </a:t>
            </a:r>
            <a:r>
              <a:rPr b="0" i="0" lang="en-US" sz="1400" u="none" cap="none" strike="noStrik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Dynamic Pricing: </a:t>
            </a:r>
            <a:r>
              <a:rPr b="0" i="0" lang="en-US" sz="1400" u="none" cap="none" strike="noStrik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Supply Chain Optimization: </a:t>
            </a:r>
            <a:r>
              <a:rPr b="0" i="0" lang="en-US" sz="1400" u="none" cap="none" strike="noStrik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b="0" i="0" sz="1400" u="none" cap="none" strike="noStrik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Targeted Campaigns:</a:t>
            </a:r>
            <a:r>
              <a:rPr b="0" i="0" lang="en-US" sz="1400" u="none" cap="none" strike="noStrik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Price Sensitivity Analysis:</a:t>
            </a:r>
            <a:r>
              <a:rPr b="0" i="0" lang="en-US" sz="1400" u="none" cap="none" strike="noStrik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Promotional Timing: </a:t>
            </a:r>
            <a:r>
              <a:rPr b="0" i="0" lang="en-US" sz="1400" u="none" cap="none" strike="noStrik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Store Optimization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Product Placement: </a:t>
            </a:r>
            <a:r>
              <a:rPr b="0" i="0" lang="en-US" sz="1400" u="none" cap="none" strike="noStrik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Inventory Turnover:</a:t>
            </a:r>
            <a:r>
              <a:rPr b="0" i="0" lang="en-US" sz="1400" u="none" cap="none" strike="noStrik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Customer Experience:</a:t>
            </a:r>
            <a:r>
              <a:rPr b="0" i="0" lang="en-US" sz="1400" u="none" cap="none" strike="noStrik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b="0" i="0" sz="1400" u="none" cap="none" strike="noStrik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Challenges in implementing these strategies may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Data Integration:</a:t>
            </a:r>
            <a:r>
              <a:rPr b="0" i="0" lang="en-US" sz="1400" u="none" cap="none" strike="noStrik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Operational Flexibility:</a:t>
            </a:r>
            <a:r>
              <a:rPr b="0" i="0" lang="en-US" sz="1400" u="none" cap="none" strike="noStrik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Competitive Pressures:</a:t>
            </a:r>
            <a:r>
              <a:rPr b="0" i="0" lang="en-US" sz="1400" u="none" cap="none" strike="noStrik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3550674" y="681037"/>
            <a:ext cx="5090652" cy="8527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p:nvPr>
            <p:ph idx="1" type="body"/>
          </p:nvPr>
        </p:nvSpPr>
        <p:spPr>
          <a:xfrm>
            <a:off x="838200" y="1706709"/>
            <a:ext cx="10515600" cy="3998306"/>
          </a:xfrm>
          <a:prstGeom prst="rect">
            <a:avLst/>
          </a:prstGeom>
          <a:solidFill>
            <a:schemeClr val="lt2"/>
          </a:solidFill>
          <a:ln>
            <a:noFill/>
          </a:ln>
        </p:spPr>
        <p:txBody>
          <a:bodyPr anchorCtr="0" anchor="t" bIns="45700" lIns="91425" spcFirstLastPara="1" rIns="91425" wrap="square" tIns="45700">
            <a:normAutofit/>
          </a:bodyPr>
          <a:lstStyle/>
          <a:p>
            <a:pPr indent="-228600" lvl="0" marL="457200" rtl="0" algn="l">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2024-08-14T03:31:56Z</dcterms:created>
  <dc:creator>mukta barad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